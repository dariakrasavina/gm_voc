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800">
          <a:solidFill>
            <a:schemeClr val="tx1"/>
          </a:solidFill>
          <a:latin typeface="Calibri"/>
        </a:defRPr>
      </a:lvl1pPr>
    </p:titleStyle>
    <p:bodyStyle>
      <a:lvl1pPr>
        <a:defRPr sz="1600">
          <a:solidFill>
            <a:schemeClr val="tx1"/>
          </a:solidFill>
          <a:latin typeface="Calibri"/>
        </a:defRPr>
      </a:lvl1pPr>
    </p:bodyStyle>
    <p:otherStyle>
      <a:lvl1pPr>
        <a:defRPr sz="1400">
          <a:solidFill>
            <a:schemeClr val="tx1"/>
          </a:solidFill>
          <a:latin typeface="Calibr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4"/>
          <p:cNvSpPr/>
          <p:nvPr/>
        </p:nvSpPr>
        <p:spPr>
          <a:xfrm>
            <a:off x="640080" y="2050000"/>
            <a:ext cx="2400000" cy="340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2250000"/>
            <a:ext cx="10911840" cy="15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Calibri"/>
              </a:rPr>
              <a:t>Classification —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Calibri"/>
              </a:rPr>
              <a:t>Technical Deep Dive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390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700" dirty="0">
                <a:solidFill>
                  <a:srgbClr val="9DB4E0"/>
                </a:solidFill>
                <a:latin typeface="Calibri"/>
              </a:rPr>
              <a:t>How the rule engine, ai_classify, and ai_query_sql work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7C93C0"/>
                </a:solidFill>
                <a:latin typeface="Calibri"/>
              </a:rPr>
              <a:t>End to end, file by file  ·  GM Voice-of-Customer POC  ·  Databricks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ORIENTATION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Three classifiers, one output shape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2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40080" y="1380000"/>
            <a:ext cx="10911840" cy="5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6473"/>
                </a:solidFill>
                <a:latin typeface="Calibri"/>
              </a:rPr>
              <a:t>All three read the SAME shared/category_model.json, roll leaf matches up to parents, and write one 0/1 column per category — so they compare like-for-like.</a:t>
            </a:r>
          </a:p>
        </p:txBody>
      </p:sp>
      <p:graphicFrame>
        <p:nvGraphicFramePr>
          <p:cNvPr id="9" name="tbl9"/>
          <p:cNvGraphicFramePr>
            <a:graphicFrameLocks noGrp="1"/>
          </p:cNvGraphicFramePr>
          <p:nvPr/>
        </p:nvGraphicFramePr>
        <p:xfrm>
          <a:off x="640080" y="1980000"/>
          <a:ext cx="10911840" cy="2480000"/>
        </p:xfrm>
        <a:graphic>
          <a:graphicData uri="http://schemas.openxmlformats.org/drawingml/2006/table">
            <a:tbl>
              <a:tblPr firstRow="1" bandRow="1"/>
              <a:tblGrid>
                <a:gridCol w="2182368"/>
                <a:gridCol w="2400604"/>
                <a:gridCol w="1745894"/>
                <a:gridCol w="1745894"/>
                <a:gridCol w="2837080"/>
              </a:tblGrid>
              <a:tr h="682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63152" marR="63152" marT="16000" marB="160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63152" marR="63152" marT="16000" marB="160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Labels</a:t>
                      </a:r>
                    </a:p>
                  </a:txBody>
                  <a:tcPr marL="63152" marR="63152" marT="16000" marB="160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63152" marR="63152" marT="16000" marB="160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Output table</a:t>
                      </a:r>
                    </a:p>
                  </a:txBody>
                  <a:tcPr marL="63152" marR="63152" marT="16000" marB="16000" anchor="ctr">
                    <a:solidFill>
                      <a:srgbClr val="1B2A4A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223047"/>
                          </a:solidFill>
                          <a:latin typeface="Calibri"/>
                        </a:rPr>
                        <a:t>Rule engine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keyword / boolean rules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multi + roll-up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none (deterministic)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dirty="0">
                          <a:solidFill>
                            <a:srgbClr val="223047"/>
                          </a:solidFill>
                          <a:latin typeface="Consolas"/>
                        </a:rPr>
                        <a:t>voc_classification_rule_tags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223047"/>
                          </a:solidFill>
                          <a:latin typeface="Calibri"/>
                        </a:rPr>
                        <a:t>ai_classify</a:t>
                      </a:r>
                    </a:p>
                  </a:txBody>
                  <a:tcPr marL="63152" marR="63152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built-in ai_classify() v2.1</a:t>
                      </a:r>
                    </a:p>
                  </a:txBody>
                  <a:tcPr marL="63152" marR="63152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multi + confidence</a:t>
                      </a:r>
                    </a:p>
                  </a:txBody>
                  <a:tcPr marL="63152" marR="63152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fixed managed</a:t>
                      </a:r>
                    </a:p>
                  </a:txBody>
                  <a:tcPr marL="63152" marR="63152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dirty="0">
                          <a:solidFill>
                            <a:srgbClr val="223047"/>
                          </a:solidFill>
                          <a:latin typeface="Consolas"/>
                        </a:rPr>
                        <a:t>voc_classification_ai_classify_tags</a:t>
                      </a:r>
                    </a:p>
                  </a:txBody>
                  <a:tcPr marL="63152" marR="63152" marT="16000" marB="16000" anchor="ctr"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223047"/>
                          </a:solidFill>
                          <a:latin typeface="Calibri"/>
                        </a:rPr>
                        <a:t>ai_query_sql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ai_query() + prompt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multi + roll-up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your choice (Sonnet 4.6)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dirty="0">
                          <a:solidFill>
                            <a:srgbClr val="223047"/>
                          </a:solidFill>
                          <a:latin typeface="Consolas"/>
                        </a:rPr>
                        <a:t>voc_classification_ai_query_sql_tags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10" name="t10"/>
          <p:cNvSpPr>
            <a:spLocks noGrp="1"/>
          </p:cNvSpPr>
          <p:nvPr/>
        </p:nvSpPr>
        <p:spPr>
          <a:xfrm>
            <a:off x="640080" y="4470000"/>
            <a:ext cx="10911840" cy="5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6473"/>
                </a:solidFill>
                <a:latin typeface="Calibri"/>
              </a:rPr>
              <a:t>Rule engine = the deterministic control. ai_query_sql = the scalable AI path. ai_classify = a different method (one best label, fixed model) worth comparing.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RULE ENGINE · 1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3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40080" y="1420000"/>
            <a:ext cx="10911840" cy="493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6FF2"/>
                </a:solidFill>
                <a:latin typeface="Calibri"/>
              </a:rPr>
              <a:t>A from-scratch implementation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of GM's XM Discover Designer query language — the exact rules GM uses today, run on Databricks.</a:t>
            </a:r>
          </a:p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6FF2"/>
                </a:solidFill>
                <a:latin typeface="Calibri"/>
              </a:rPr>
              <a:t>Deterministic: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same sentence → same tags, every run. No model, no drift, no per-call cost.</a:t>
            </a:r>
          </a:p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6FF2"/>
                </a:solidFill>
                <a:latin typeface="Calibri"/>
              </a:rPr>
              <a:t>Explainable: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every tag records the matched terms (“chicklets”) so a reviewer sees WHY a sentence was tagged.</a:t>
            </a:r>
          </a:p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6FF2"/>
                </a:solidFill>
                <a:latin typeface="Calibri"/>
              </a:rPr>
              <a:t>One code path: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rule_engine.py + tagger.py never import pyspark, so the identical logic runs on a laptop (unit-tested) and at scale in Spark.</a:t>
            </a:r>
          </a:p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9E5B"/>
                </a:solidFill>
                <a:latin typeface="Calibri"/>
              </a:rPr>
              <a:t>Role: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the CONTROL the AI approaches are measured against.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RULE ENGINE · 2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Architecture — data, engine, consumers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4</a:t>
            </a:r>
          </a:p>
        </p:txBody>
      </p:sp>
      <p:sp>
        <p:nvSpPr>
          <p:cNvPr id="8" name="r8"/>
          <p:cNvSpPr/>
          <p:nvPr/>
        </p:nvSpPr>
        <p:spPr>
          <a:xfrm>
            <a:off x="640080" y="1540000"/>
            <a:ext cx="3180000" cy="108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9" name="r9"/>
          <p:cNvSpPr/>
          <p:nvPr/>
        </p:nvSpPr>
        <p:spPr>
          <a:xfrm>
            <a:off x="640080" y="1540000"/>
            <a:ext cx="60000" cy="10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>
            <a:spLocks noGrp="1"/>
          </p:cNvSpPr>
          <p:nvPr/>
        </p:nvSpPr>
        <p:spPr>
          <a:xfrm>
            <a:off x="700080" y="1540000"/>
            <a:ext cx="3060000" cy="10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category_model.json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6473"/>
                </a:solidFill>
                <a:latin typeface="Calibri"/>
              </a:rPr>
              <a:t>the rules (data)</a:t>
            </a:r>
          </a:p>
        </p:txBody>
      </p:sp>
      <p:sp>
        <p:nvSpPr>
          <p:cNvPr id="11" name="r11"/>
          <p:cNvSpPr/>
          <p:nvPr/>
        </p:nvSpPr>
        <p:spPr>
          <a:xfrm>
            <a:off x="4510080" y="1540000"/>
            <a:ext cx="3180000" cy="108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4510080" y="1540000"/>
            <a:ext cx="60000" cy="10800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13"/>
          <p:cNvSpPr>
            <a:spLocks noGrp="1"/>
          </p:cNvSpPr>
          <p:nvPr/>
        </p:nvSpPr>
        <p:spPr>
          <a:xfrm>
            <a:off x="4570080" y="1540000"/>
            <a:ext cx="3060000" cy="10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rule_engine.py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6473"/>
                </a:solidFill>
                <a:latin typeface="Calibri"/>
              </a:rPr>
              <a:t>parse → AST → evaluate</a:t>
            </a:r>
          </a:p>
        </p:txBody>
      </p:sp>
      <p:cxnSp>
        <p:nvCxnSpPr>
          <p:cNvPr id="14" name="c14"/>
          <p:cNvCxnSpPr/>
          <p:nvPr/>
        </p:nvCxnSpPr>
        <p:spPr>
          <a:xfrm>
            <a:off x="3820080" y="2080000"/>
            <a:ext cx="690000" cy="0"/>
          </a:xfrm>
          <a:prstGeom prst="straightConnector1">
            <a:avLst/>
          </a:prstGeom>
          <a:ln w="19050">
            <a:solidFill>
              <a:srgbClr val="5A6473"/>
            </a:solidFill>
            <a:tailEnd type="triangle" w="med" len="med"/>
          </a:ln>
        </p:spPr>
      </p:cxnSp>
      <p:sp>
        <p:nvSpPr>
          <p:cNvPr id="15" name="r15"/>
          <p:cNvSpPr/>
          <p:nvPr/>
        </p:nvSpPr>
        <p:spPr>
          <a:xfrm>
            <a:off x="8380080" y="1540000"/>
            <a:ext cx="3180000" cy="108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16" name="r16"/>
          <p:cNvSpPr/>
          <p:nvPr/>
        </p:nvSpPr>
        <p:spPr>
          <a:xfrm>
            <a:off x="8380080" y="1540000"/>
            <a:ext cx="60000" cy="1080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17"/>
          <p:cNvSpPr>
            <a:spLocks noGrp="1"/>
          </p:cNvSpPr>
          <p:nvPr/>
        </p:nvSpPr>
        <p:spPr>
          <a:xfrm>
            <a:off x="8440080" y="1540000"/>
            <a:ext cx="3060000" cy="10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tagger.py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6473"/>
                </a:solidFill>
                <a:latin typeface="Calibri"/>
              </a:rPr>
              <a:t>scope + all categories + roll-up</a:t>
            </a:r>
          </a:p>
        </p:txBody>
      </p:sp>
      <p:cxnSp>
        <p:nvCxnSpPr>
          <p:cNvPr id="18" name="c18"/>
          <p:cNvCxnSpPr/>
          <p:nvPr/>
        </p:nvCxnSpPr>
        <p:spPr>
          <a:xfrm>
            <a:off x="7690080" y="2080000"/>
            <a:ext cx="690000" cy="0"/>
          </a:xfrm>
          <a:prstGeom prst="straightConnector1">
            <a:avLst/>
          </a:prstGeom>
          <a:ln w="19050">
            <a:solidFill>
              <a:srgbClr val="5A6473"/>
            </a:solidFill>
            <a:tailEnd type="triangle" w="med" len="med"/>
          </a:ln>
        </p:spPr>
      </p:cxnSp>
      <p:sp>
        <p:nvSpPr>
          <p:cNvPr id="19" name="r19"/>
          <p:cNvSpPr/>
          <p:nvPr/>
        </p:nvSpPr>
        <p:spPr>
          <a:xfrm>
            <a:off x="640080" y="3520000"/>
            <a:ext cx="3180000" cy="980000"/>
          </a:xfrm>
          <a:prstGeom prst="roundRect">
            <a:avLst/>
          </a:prstGeom>
          <a:solidFill>
            <a:srgbClr val="E7EDF6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20" name="r20"/>
          <p:cNvSpPr/>
          <p:nvPr/>
        </p:nvSpPr>
        <p:spPr>
          <a:xfrm>
            <a:off x="640080" y="3520000"/>
            <a:ext cx="60000" cy="980000"/>
          </a:xfrm>
          <a:prstGeom prst="rect">
            <a:avLst/>
          </a:prstGeom>
          <a:solidFill>
            <a:srgbClr val="5A64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21"/>
          <p:cNvSpPr>
            <a:spLocks noGrp="1"/>
          </p:cNvSpPr>
          <p:nvPr/>
        </p:nvSpPr>
        <p:spPr>
          <a:xfrm>
            <a:off x="700080" y="3520000"/>
            <a:ext cx="3060000" cy="9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run_local.py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6473"/>
                </a:solidFill>
                <a:latin typeface="Calibri"/>
              </a:rPr>
              <a:t>laptop run over CSVs</a:t>
            </a:r>
          </a:p>
        </p:txBody>
      </p:sp>
      <p:cxnSp>
        <p:nvCxnSpPr>
          <p:cNvPr id="22" name="c22"/>
          <p:cNvCxnSpPr/>
          <p:nvPr/>
        </p:nvCxnSpPr>
        <p:spPr>
          <a:xfrm flipH="1">
            <a:off x="2230080" y="2620000"/>
            <a:ext cx="7740000" cy="900000"/>
          </a:xfrm>
          <a:prstGeom prst="straightConnector1">
            <a:avLst/>
          </a:prstGeom>
          <a:ln w="19050">
            <a:solidFill>
              <a:srgbClr val="0E7C7B"/>
            </a:solidFill>
            <a:tailEnd type="triangle" w="med" len="med"/>
          </a:ln>
        </p:spPr>
      </p:cxnSp>
      <p:sp>
        <p:nvSpPr>
          <p:cNvPr id="23" name="r23"/>
          <p:cNvSpPr/>
          <p:nvPr/>
        </p:nvSpPr>
        <p:spPr>
          <a:xfrm>
            <a:off x="4510080" y="3520000"/>
            <a:ext cx="3180000" cy="980000"/>
          </a:xfrm>
          <a:prstGeom prst="roundRect">
            <a:avLst/>
          </a:prstGeom>
          <a:solidFill>
            <a:srgbClr val="E7EDF6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24" name="r24"/>
          <p:cNvSpPr/>
          <p:nvPr/>
        </p:nvSpPr>
        <p:spPr>
          <a:xfrm>
            <a:off x="4510080" y="3520000"/>
            <a:ext cx="60000" cy="980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25"/>
          <p:cNvSpPr>
            <a:spLocks noGrp="1"/>
          </p:cNvSpPr>
          <p:nvPr/>
        </p:nvSpPr>
        <p:spPr>
          <a:xfrm>
            <a:off x="4570080" y="3520000"/>
            <a:ext cx="3060000" cy="9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voc_topic_model_job.py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6473"/>
                </a:solidFill>
                <a:latin typeface="Calibri"/>
              </a:rPr>
              <a:t>FULL Spark job (pandas_udf)</a:t>
            </a:r>
          </a:p>
        </p:txBody>
      </p:sp>
      <p:cxnSp>
        <p:nvCxnSpPr>
          <p:cNvPr id="26" name="c26"/>
          <p:cNvCxnSpPr/>
          <p:nvPr/>
        </p:nvCxnSpPr>
        <p:spPr>
          <a:xfrm flipH="1">
            <a:off x="6100080" y="2620000"/>
            <a:ext cx="3870000" cy="900000"/>
          </a:xfrm>
          <a:prstGeom prst="straightConnector1">
            <a:avLst/>
          </a:prstGeom>
          <a:ln w="19050">
            <a:solidFill>
              <a:srgbClr val="0E7C7B"/>
            </a:solidFill>
            <a:tailEnd type="triangle" w="med" len="med"/>
          </a:ln>
        </p:spPr>
      </p:cxnSp>
      <p:sp>
        <p:nvSpPr>
          <p:cNvPr id="27" name="r27"/>
          <p:cNvSpPr/>
          <p:nvPr/>
        </p:nvSpPr>
        <p:spPr>
          <a:xfrm>
            <a:off x="8380080" y="3520000"/>
            <a:ext cx="3180000" cy="980000"/>
          </a:xfrm>
          <a:prstGeom prst="roundRect">
            <a:avLst/>
          </a:prstGeom>
          <a:solidFill>
            <a:srgbClr val="E7EDF6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28" name="r28"/>
          <p:cNvSpPr/>
          <p:nvPr/>
        </p:nvSpPr>
        <p:spPr>
          <a:xfrm>
            <a:off x="8380080" y="3520000"/>
            <a:ext cx="60000" cy="980000"/>
          </a:xfrm>
          <a:prstGeom prst="rect">
            <a:avLst/>
          </a:prstGeom>
          <a:solidFill>
            <a:srgbClr val="B9770E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29"/>
          <p:cNvSpPr>
            <a:spLocks noGrp="1"/>
          </p:cNvSpPr>
          <p:nvPr/>
        </p:nvSpPr>
        <p:spPr>
          <a:xfrm>
            <a:off x="8440080" y="3520000"/>
            <a:ext cx="3060000" cy="9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incremental_rule_job.py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6473"/>
                </a:solidFill>
                <a:latin typeface="Calibri"/>
              </a:rPr>
              <a:t>incremental re-tag on rule change</a:t>
            </a:r>
          </a:p>
        </p:txBody>
      </p:sp>
      <p:cxnSp>
        <p:nvCxnSpPr>
          <p:cNvPr id="30" name="c30"/>
          <p:cNvCxnSpPr/>
          <p:nvPr/>
        </p:nvCxnSpPr>
        <p:spPr>
          <a:xfrm>
            <a:off x="9970080" y="2620000"/>
            <a:ext cx="0" cy="900000"/>
          </a:xfrm>
          <a:prstGeom prst="straightConnector1">
            <a:avLst/>
          </a:prstGeom>
          <a:ln w="19050">
            <a:solidFill>
              <a:srgbClr val="0E7C7B"/>
            </a:solidFill>
            <a:tailEnd type="triangle" w="med" len="med"/>
          </a:ln>
        </p:spPr>
      </p:cxnSp>
      <p:sp>
        <p:nvSpPr>
          <p:cNvPr id="31" name="t31"/>
          <p:cNvSpPr>
            <a:spLocks noGrp="1"/>
          </p:cNvSpPr>
          <p:nvPr/>
        </p:nvSpPr>
        <p:spPr>
          <a:xfrm>
            <a:off x="640080" y="4680000"/>
            <a:ext cx="10911840" cy="5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6473"/>
                </a:solidFill>
                <a:latin typeface="Calibri"/>
              </a:rPr>
              <a:t>The rules are DATA. rule_engine.py evaluates one rule; tagger.py applies the whole model (scope + roll-up); three consumers run it locally, at full scale, or incrementally.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RULE ENGINE · 3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How one category rule matches (4 lanes)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5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40080" y="1380000"/>
            <a:ext cx="10911840" cy="5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6473"/>
                </a:solidFill>
                <a:latin typeface="Calibri"/>
              </a:rPr>
              <a:t>Each category is up to four “swim lanes”. A sentence matches when:  keywords AND and AND and2 AND (NOT not).</a:t>
            </a:r>
          </a:p>
        </p:txBody>
      </p:sp>
      <p:sp>
        <p:nvSpPr>
          <p:cNvPr id="9" name="r9"/>
          <p:cNvSpPr/>
          <p:nvPr/>
        </p:nvSpPr>
        <p:spPr>
          <a:xfrm>
            <a:off x="640080" y="2060000"/>
            <a:ext cx="2500000" cy="100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10" name="r10"/>
          <p:cNvSpPr/>
          <p:nvPr/>
        </p:nvSpPr>
        <p:spPr>
          <a:xfrm>
            <a:off x="640080" y="2060000"/>
            <a:ext cx="60000" cy="1000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11"/>
          <p:cNvSpPr>
            <a:spLocks noGrp="1"/>
          </p:cNvSpPr>
          <p:nvPr/>
        </p:nvSpPr>
        <p:spPr>
          <a:xfrm>
            <a:off x="700080" y="2060000"/>
            <a:ext cx="238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keywords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6473"/>
                </a:solidFill>
                <a:latin typeface="Calibri"/>
              </a:rPr>
              <a:t>OR seed — required</a:t>
            </a:r>
          </a:p>
        </p:txBody>
      </p:sp>
      <p:sp>
        <p:nvSpPr>
          <p:cNvPr id="12" name="r12"/>
          <p:cNvSpPr/>
          <p:nvPr/>
        </p:nvSpPr>
        <p:spPr>
          <a:xfrm>
            <a:off x="3440080" y="2060000"/>
            <a:ext cx="2500000" cy="100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13" name="r13"/>
          <p:cNvSpPr/>
          <p:nvPr/>
        </p:nvSpPr>
        <p:spPr>
          <a:xfrm>
            <a:off x="3440080" y="2060000"/>
            <a:ext cx="60000" cy="10000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14"/>
          <p:cNvSpPr>
            <a:spLocks noGrp="1"/>
          </p:cNvSpPr>
          <p:nvPr/>
        </p:nvSpPr>
        <p:spPr>
          <a:xfrm>
            <a:off x="3500080" y="2060000"/>
            <a:ext cx="238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and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6473"/>
                </a:solidFill>
                <a:latin typeface="Calibri"/>
              </a:rPr>
              <a:t>extra required terms</a:t>
            </a:r>
          </a:p>
        </p:txBody>
      </p:sp>
      <p:cxnSp>
        <p:nvCxnSpPr>
          <p:cNvPr id="15" name="c15"/>
          <p:cNvCxnSpPr/>
          <p:nvPr/>
        </p:nvCxnSpPr>
        <p:spPr>
          <a:xfrm>
            <a:off x="3140080" y="2560000"/>
            <a:ext cx="300000" cy="0"/>
          </a:xfrm>
          <a:prstGeom prst="straightConnector1">
            <a:avLst/>
          </a:prstGeom>
          <a:ln w="19050">
            <a:solidFill>
              <a:srgbClr val="FFFFFF"/>
            </a:solidFill>
            <a:tailEnd type="triangle" w="med" len="med"/>
          </a:ln>
        </p:spPr>
      </p:cxnSp>
      <p:sp>
        <p:nvSpPr>
          <p:cNvPr id="16" name="r16"/>
          <p:cNvSpPr/>
          <p:nvPr/>
        </p:nvSpPr>
        <p:spPr>
          <a:xfrm>
            <a:off x="6240080" y="2060000"/>
            <a:ext cx="2500000" cy="100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17" name="r17"/>
          <p:cNvSpPr/>
          <p:nvPr/>
        </p:nvSpPr>
        <p:spPr>
          <a:xfrm>
            <a:off x="6240080" y="2060000"/>
            <a:ext cx="60000" cy="10000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18"/>
          <p:cNvSpPr>
            <a:spLocks noGrp="1"/>
          </p:cNvSpPr>
          <p:nvPr/>
        </p:nvSpPr>
        <p:spPr>
          <a:xfrm>
            <a:off x="6300080" y="2060000"/>
            <a:ext cx="238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and2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6473"/>
                </a:solidFill>
                <a:latin typeface="Calibri"/>
              </a:rPr>
              <a:t>e.g. NOT agent-side</a:t>
            </a:r>
          </a:p>
        </p:txBody>
      </p:sp>
      <p:cxnSp>
        <p:nvCxnSpPr>
          <p:cNvPr id="19" name="c19"/>
          <p:cNvCxnSpPr/>
          <p:nvPr/>
        </p:nvCxnSpPr>
        <p:spPr>
          <a:xfrm>
            <a:off x="5940080" y="2560000"/>
            <a:ext cx="300000" cy="0"/>
          </a:xfrm>
          <a:prstGeom prst="straightConnector1">
            <a:avLst/>
          </a:prstGeom>
          <a:ln w="19050">
            <a:solidFill>
              <a:srgbClr val="FFFFFF"/>
            </a:solidFill>
            <a:tailEnd type="triangle" w="med" len="med"/>
          </a:ln>
        </p:spPr>
      </p:cxnSp>
      <p:sp>
        <p:nvSpPr>
          <p:cNvPr id="20" name="r20"/>
          <p:cNvSpPr/>
          <p:nvPr/>
        </p:nvSpPr>
        <p:spPr>
          <a:xfrm>
            <a:off x="9040080" y="2060000"/>
            <a:ext cx="2500000" cy="100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21" name="r21"/>
          <p:cNvSpPr/>
          <p:nvPr/>
        </p:nvSpPr>
        <p:spPr>
          <a:xfrm>
            <a:off x="9040080" y="2060000"/>
            <a:ext cx="60000" cy="10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22"/>
          <p:cNvSpPr>
            <a:spLocks noGrp="1"/>
          </p:cNvSpPr>
          <p:nvPr/>
        </p:nvSpPr>
        <p:spPr>
          <a:xfrm>
            <a:off x="9100080" y="2060000"/>
            <a:ext cx="238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not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6473"/>
                </a:solidFill>
                <a:latin typeface="Calibri"/>
              </a:rPr>
              <a:t>exclusions</a:t>
            </a:r>
          </a:p>
        </p:txBody>
      </p:sp>
      <p:cxnSp>
        <p:nvCxnSpPr>
          <p:cNvPr id="23" name="c23"/>
          <p:cNvCxnSpPr/>
          <p:nvPr/>
        </p:nvCxnSpPr>
        <p:spPr>
          <a:xfrm>
            <a:off x="8740080" y="2560000"/>
            <a:ext cx="300000" cy="0"/>
          </a:xfrm>
          <a:prstGeom prst="straightConnector1">
            <a:avLst/>
          </a:prstGeom>
          <a:ln w="19050">
            <a:solidFill>
              <a:srgbClr val="FFFFFF"/>
            </a:solidFill>
            <a:tailEnd type="triangle" w="med" len="med"/>
          </a:ln>
        </p:spPr>
      </p:cxnSp>
      <p:sp>
        <p:nvSpPr>
          <p:cNvPr id="24" name="r24"/>
          <p:cNvSpPr/>
          <p:nvPr/>
        </p:nvSpPr>
        <p:spPr>
          <a:xfrm>
            <a:off x="4596000" y="3820000"/>
            <a:ext cx="3000000" cy="820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/>
          <a:lstStyle/>
          <a:p/>
        </p:txBody>
      </p:sp>
      <p:sp>
        <p:nvSpPr>
          <p:cNvPr id="25" name="t25"/>
          <p:cNvSpPr>
            <a:spLocks noGrp="1"/>
          </p:cNvSpPr>
          <p:nvPr/>
        </p:nvSpPr>
        <p:spPr>
          <a:xfrm>
            <a:off x="4656000" y="3820000"/>
            <a:ext cx="288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/>
              </a:rPr>
              <a:t>AND  →  MATCH  (+ matched terms)</a:t>
            </a:r>
          </a:p>
        </p:txBody>
      </p:sp>
      <p:cxnSp>
        <p:nvCxnSpPr>
          <p:cNvPr id="26" name="c26"/>
          <p:cNvCxnSpPr/>
          <p:nvPr/>
        </p:nvCxnSpPr>
        <p:spPr>
          <a:xfrm>
            <a:off x="1890080" y="3060000"/>
            <a:ext cx="4205920" cy="760000"/>
          </a:xfrm>
          <a:prstGeom prst="straightConnector1">
            <a:avLst/>
          </a:prstGeom>
          <a:ln w="19050">
            <a:solidFill>
              <a:srgbClr val="2E9E5B"/>
            </a:solidFill>
            <a:tailEnd type="triangle" w="med" len="med"/>
          </a:ln>
        </p:spPr>
      </p:cxnSp>
      <p:cxnSp>
        <p:nvCxnSpPr>
          <p:cNvPr id="27" name="c27"/>
          <p:cNvCxnSpPr/>
          <p:nvPr/>
        </p:nvCxnSpPr>
        <p:spPr>
          <a:xfrm>
            <a:off x="4690080" y="3060000"/>
            <a:ext cx="1405920" cy="760000"/>
          </a:xfrm>
          <a:prstGeom prst="straightConnector1">
            <a:avLst/>
          </a:prstGeom>
          <a:ln w="19050">
            <a:solidFill>
              <a:srgbClr val="2E6FF2"/>
            </a:solidFill>
            <a:tailEnd type="triangle" w="med" len="med"/>
          </a:ln>
        </p:spPr>
      </p:cxnSp>
      <p:cxnSp>
        <p:nvCxnSpPr>
          <p:cNvPr id="28" name="c28"/>
          <p:cNvCxnSpPr/>
          <p:nvPr/>
        </p:nvCxnSpPr>
        <p:spPr>
          <a:xfrm flipH="1">
            <a:off x="6096000" y="3060000"/>
            <a:ext cx="1394080" cy="760000"/>
          </a:xfrm>
          <a:prstGeom prst="straightConnector1">
            <a:avLst/>
          </a:prstGeom>
          <a:ln w="19050">
            <a:solidFill>
              <a:srgbClr val="2E6FF2"/>
            </a:solidFill>
            <a:tailEnd type="triangle" w="med" len="med"/>
          </a:ln>
        </p:spPr>
      </p:cxnSp>
      <p:cxnSp>
        <p:nvCxnSpPr>
          <p:cNvPr id="29" name="c29"/>
          <p:cNvCxnSpPr/>
          <p:nvPr/>
        </p:nvCxnSpPr>
        <p:spPr>
          <a:xfrm flipH="1">
            <a:off x="6096000" y="3060000"/>
            <a:ext cx="4194080" cy="760000"/>
          </a:xfrm>
          <a:prstGeom prst="straightConnector1">
            <a:avLst/>
          </a:prstGeom>
          <a:ln w="19050">
            <a:solidFill>
              <a:srgbClr val="C0392B"/>
            </a:solidFill>
            <a:tailEnd type="triangle" w="med" len="med"/>
          </a:ln>
        </p:spPr>
      </p:cxnSp>
      <p:sp>
        <p:nvSpPr>
          <p:cNvPr id="30" name="t30"/>
          <p:cNvSpPr>
            <a:spLocks noGrp="1"/>
          </p:cNvSpPr>
          <p:nvPr/>
        </p:nvSpPr>
        <p:spPr>
          <a:xfrm>
            <a:off x="640080" y="4720000"/>
            <a:ext cx="10911840" cy="5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6473"/>
                </a:solidFill>
                <a:latin typeface="Calibri"/>
              </a:rPr>
              <a:t>Lane strings are parsed to an AST (Or / And / Not / PhraseTerm / AttrTerm). Supported: wildcards (room*), fuzzy (word~), proximity ("a b"~3), exact phrases, and attribute predicates (_id_source:audio, language:english).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RULE ENGINE · 4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File by file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bl8"/>
          <p:cNvGraphicFramePr>
            <a:graphicFrameLocks noGrp="1"/>
          </p:cNvGraphicFramePr>
          <p:nvPr/>
        </p:nvGraphicFramePr>
        <p:xfrm>
          <a:off x="640080" y="1380000"/>
          <a:ext cx="10911840" cy="3920000"/>
        </p:xfrm>
        <a:graphic>
          <a:graphicData uri="http://schemas.openxmlformats.org/drawingml/2006/table">
            <a:tbl>
              <a:tblPr firstRow="1" bandRow="1"/>
              <a:tblGrid>
                <a:gridCol w="3273552"/>
                <a:gridCol w="7638288"/>
              </a:tblGrid>
              <a:tr h="616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63152" marR="63152" marT="16000" marB="160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63152" marR="63152" marT="16000" marB="16000" anchor="ctr">
                    <a:solidFill>
                      <a:srgbClr val="1B2A4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223047"/>
                          </a:solidFill>
                          <a:latin typeface="Consolas"/>
                        </a:rPr>
                        <a:t>rule_engine.py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Lexer + recursive-descent parser → AST; matchers for word / phrase / wildcard / fuzzy / proximity / attribute; CompiledNode.evaluate combines the 4 lanes.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223047"/>
                          </a:solidFill>
                          <a:latin typeface="Consolas"/>
                        </a:rPr>
                        <a:t>tagger.py</a:t>
                      </a:r>
                    </a:p>
                  </a:txBody>
                  <a:tcPr marL="63152" marR="63152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Loads category_model.json; global scope filter (in_scope); tag() = multi-label + ancestor roll-up. Pure Python.</a:t>
                      </a:r>
                    </a:p>
                  </a:txBody>
                  <a:tcPr marL="63152" marR="63152" marT="16000" marB="16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223047"/>
                          </a:solidFill>
                          <a:latin typeface="Consolas"/>
                        </a:rPr>
                        <a:t>voc_topic_model_job.py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FULL PySpark job: SQL scope pre-filter → join metadata → pandas_udf(tagger.tag) → explode to 0/1 + __terms columns → write tags + frequencies.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223047"/>
                          </a:solidFill>
                          <a:latin typeface="Consolas"/>
                        </a:rPr>
                        <a:t>incremental_rule_job.py</a:t>
                      </a:r>
                    </a:p>
                  </a:txBody>
                  <a:tcPr marL="63152" marR="63152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Incremental re-tag after a rule change (diff snapshot → affected columns/rows → MERGE in place). See slide 8.</a:t>
                      </a:r>
                    </a:p>
                  </a:txBody>
                  <a:tcPr marL="63152" marR="63152" marT="16000" marB="16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223047"/>
                          </a:solidFill>
                          <a:latin typeface="Consolas"/>
                        </a:rPr>
                        <a:t>run_local.py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Stdlib laptop runner over the sample CSVs — same tagger, no cluster.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223047"/>
                          </a:solidFill>
                          <a:latin typeface="Consolas"/>
                        </a:rPr>
                        <a:t>test_rule_engine.py</a:t>
                      </a:r>
                    </a:p>
                  </a:txBody>
                  <a:tcPr marL="63152" marR="63152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46 unit tests: every rule operator + the incremental planning logic.</a:t>
                      </a:r>
                    </a:p>
                  </a:txBody>
                  <a:tcPr marL="63152" marR="63152" marT="16000" marB="16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RULE ENGINE · 5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The full job, end to end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7</a:t>
            </a:r>
          </a:p>
        </p:txBody>
      </p:sp>
      <p:sp>
        <p:nvSpPr>
          <p:cNvPr id="8" name="r8"/>
          <p:cNvSpPr/>
          <p:nvPr/>
        </p:nvSpPr>
        <p:spPr>
          <a:xfrm>
            <a:off x="640080" y="1680000"/>
            <a:ext cx="1930000" cy="1450000"/>
          </a:xfrm>
          <a:prstGeom prst="roundRect">
            <a:avLst/>
          </a:prstGeom>
          <a:solidFill>
            <a:srgbClr val="E7EDF6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9" name="r9"/>
          <p:cNvSpPr/>
          <p:nvPr/>
        </p:nvSpPr>
        <p:spPr>
          <a:xfrm>
            <a:off x="640080" y="1680000"/>
            <a:ext cx="60000" cy="14500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>
            <a:spLocks noGrp="1"/>
          </p:cNvSpPr>
          <p:nvPr/>
        </p:nvSpPr>
        <p:spPr>
          <a:xfrm>
            <a:off x="700080" y="1680000"/>
            <a:ext cx="181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Scope pre-filter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6473"/>
                </a:solidFill>
                <a:latin typeface="Calibri"/>
              </a:rPr>
              <a:t>SQL: EN + audio + customer + date</a:t>
            </a:r>
          </a:p>
        </p:txBody>
      </p:sp>
      <p:sp>
        <p:nvSpPr>
          <p:cNvPr id="11" name="r11"/>
          <p:cNvSpPr/>
          <p:nvPr/>
        </p:nvSpPr>
        <p:spPr>
          <a:xfrm>
            <a:off x="2880080" y="1680000"/>
            <a:ext cx="1930000" cy="145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2880080" y="1680000"/>
            <a:ext cx="60000" cy="14500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13"/>
          <p:cNvSpPr>
            <a:spLocks noGrp="1"/>
          </p:cNvSpPr>
          <p:nvPr/>
        </p:nvSpPr>
        <p:spPr>
          <a:xfrm>
            <a:off x="2940080" y="1680000"/>
            <a:ext cx="181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Join metadata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6473"/>
                </a:solidFill>
                <a:latin typeface="Calibri"/>
              </a:rPr>
              <a:t>on natural_id</a:t>
            </a:r>
          </a:p>
        </p:txBody>
      </p:sp>
      <p:cxnSp>
        <p:nvCxnSpPr>
          <p:cNvPr id="14" name="c14"/>
          <p:cNvCxnSpPr/>
          <p:nvPr/>
        </p:nvCxnSpPr>
        <p:spPr>
          <a:xfrm>
            <a:off x="2570080" y="2405000"/>
            <a:ext cx="310000" cy="0"/>
          </a:xfrm>
          <a:prstGeom prst="straightConnector1">
            <a:avLst/>
          </a:prstGeom>
          <a:ln w="19050">
            <a:solidFill>
              <a:srgbClr val="5A6473"/>
            </a:solidFill>
            <a:tailEnd type="triangle" w="med" len="med"/>
          </a:ln>
        </p:spPr>
      </p:cxnSp>
      <p:sp>
        <p:nvSpPr>
          <p:cNvPr id="15" name="r15"/>
          <p:cNvSpPr/>
          <p:nvPr/>
        </p:nvSpPr>
        <p:spPr>
          <a:xfrm>
            <a:off x="5120080" y="1680000"/>
            <a:ext cx="1930000" cy="145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16" name="r16"/>
          <p:cNvSpPr/>
          <p:nvPr/>
        </p:nvSpPr>
        <p:spPr>
          <a:xfrm>
            <a:off x="5120080" y="1680000"/>
            <a:ext cx="60000" cy="1450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17"/>
          <p:cNvSpPr>
            <a:spLocks noGrp="1"/>
          </p:cNvSpPr>
          <p:nvPr/>
        </p:nvSpPr>
        <p:spPr>
          <a:xfrm>
            <a:off x="5180080" y="1680000"/>
            <a:ext cx="181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pandas_udf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6473"/>
                </a:solidFill>
                <a:latin typeface="Calibri"/>
              </a:rPr>
              <a:t>tagger.tag() per row</a:t>
            </a:r>
          </a:p>
        </p:txBody>
      </p:sp>
      <p:cxnSp>
        <p:nvCxnSpPr>
          <p:cNvPr id="18" name="c18"/>
          <p:cNvCxnSpPr/>
          <p:nvPr/>
        </p:nvCxnSpPr>
        <p:spPr>
          <a:xfrm>
            <a:off x="4810080" y="2405000"/>
            <a:ext cx="310000" cy="0"/>
          </a:xfrm>
          <a:prstGeom prst="straightConnector1">
            <a:avLst/>
          </a:prstGeom>
          <a:ln w="19050">
            <a:solidFill>
              <a:srgbClr val="5A6473"/>
            </a:solidFill>
            <a:tailEnd type="triangle" w="med" len="med"/>
          </a:ln>
        </p:spPr>
      </p:cxnSp>
      <p:sp>
        <p:nvSpPr>
          <p:cNvPr id="19" name="r19"/>
          <p:cNvSpPr/>
          <p:nvPr/>
        </p:nvSpPr>
        <p:spPr>
          <a:xfrm>
            <a:off x="7360080" y="1680000"/>
            <a:ext cx="1930000" cy="145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20" name="r20"/>
          <p:cNvSpPr/>
          <p:nvPr/>
        </p:nvSpPr>
        <p:spPr>
          <a:xfrm>
            <a:off x="7360080" y="1680000"/>
            <a:ext cx="60000" cy="1450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21"/>
          <p:cNvSpPr>
            <a:spLocks noGrp="1"/>
          </p:cNvSpPr>
          <p:nvPr/>
        </p:nvSpPr>
        <p:spPr>
          <a:xfrm>
            <a:off x="7420080" y="1680000"/>
            <a:ext cx="181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Explode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6473"/>
                </a:solidFill>
                <a:latin typeface="Calibri"/>
              </a:rPr>
              <a:t>0/1 + __terms per category (in-scope)</a:t>
            </a:r>
          </a:p>
        </p:txBody>
      </p:sp>
      <p:cxnSp>
        <p:nvCxnSpPr>
          <p:cNvPr id="22" name="c22"/>
          <p:cNvCxnSpPr/>
          <p:nvPr/>
        </p:nvCxnSpPr>
        <p:spPr>
          <a:xfrm>
            <a:off x="7050080" y="2405000"/>
            <a:ext cx="310000" cy="0"/>
          </a:xfrm>
          <a:prstGeom prst="straightConnector1">
            <a:avLst/>
          </a:prstGeom>
          <a:ln w="19050">
            <a:solidFill>
              <a:srgbClr val="5A6473"/>
            </a:solidFill>
            <a:tailEnd type="triangle" w="med" len="med"/>
          </a:ln>
        </p:spPr>
      </p:cxnSp>
      <p:sp>
        <p:nvSpPr>
          <p:cNvPr id="23" name="r23"/>
          <p:cNvSpPr/>
          <p:nvPr/>
        </p:nvSpPr>
        <p:spPr>
          <a:xfrm>
            <a:off x="9600080" y="1680000"/>
            <a:ext cx="1930000" cy="1450000"/>
          </a:xfrm>
          <a:prstGeom prst="roundRect">
            <a:avLst/>
          </a:prstGeom>
          <a:solidFill>
            <a:srgbClr val="E7EDF6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24" name="r24"/>
          <p:cNvSpPr/>
          <p:nvPr/>
        </p:nvSpPr>
        <p:spPr>
          <a:xfrm>
            <a:off x="9600080" y="1680000"/>
            <a:ext cx="60000" cy="14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25"/>
          <p:cNvSpPr>
            <a:spLocks noGrp="1"/>
          </p:cNvSpPr>
          <p:nvPr/>
        </p:nvSpPr>
        <p:spPr>
          <a:xfrm>
            <a:off x="9660080" y="1680000"/>
            <a:ext cx="181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Write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6473"/>
                </a:solidFill>
                <a:latin typeface="Calibri"/>
              </a:rPr>
              <a:t>rule_tags + frequencies</a:t>
            </a:r>
          </a:p>
        </p:txBody>
      </p:sp>
      <p:cxnSp>
        <p:nvCxnSpPr>
          <p:cNvPr id="26" name="c26"/>
          <p:cNvCxnSpPr/>
          <p:nvPr/>
        </p:nvCxnSpPr>
        <p:spPr>
          <a:xfrm>
            <a:off x="9290080" y="2405000"/>
            <a:ext cx="310000" cy="0"/>
          </a:xfrm>
          <a:prstGeom prst="straightConnector1">
            <a:avLst/>
          </a:prstGeom>
          <a:ln w="19050">
            <a:solidFill>
              <a:srgbClr val="5A6473"/>
            </a:solidFill>
            <a:tailEnd type="triangle" w="med" len="med"/>
          </a:ln>
        </p:spPr>
      </p:cxnSp>
      <p:sp>
        <p:nvSpPr>
          <p:cNvPr id="27" name="t27"/>
          <p:cNvSpPr>
            <a:spLocks noGrp="1"/>
          </p:cNvSpPr>
          <p:nvPr/>
        </p:nvSpPr>
        <p:spPr>
          <a:xfrm>
            <a:off x="640080" y="3450000"/>
            <a:ext cx="10911840" cy="5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6473"/>
                </a:solidFill>
                <a:latin typeface="Calibri"/>
              </a:rPr>
              <a:t>The SQL scope pre-filter is the big win: the slow per-row Python matching (pandas_udf) only ever sees in-scope rows, not the whole corpus. Output is one row per sentence, one 0/1 column per category (leaves + rolled-up parents) + the terms that fired.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RULE ENGINE · 6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Incremental re-tag (no full re-run)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8</a:t>
            </a:r>
          </a:p>
        </p:txBody>
      </p:sp>
      <p:sp>
        <p:nvSpPr>
          <p:cNvPr id="8" name="r8"/>
          <p:cNvSpPr/>
          <p:nvPr/>
        </p:nvSpPr>
        <p:spPr>
          <a:xfrm>
            <a:off x="640080" y="1400000"/>
            <a:ext cx="4650000" cy="70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9" name="r9"/>
          <p:cNvSpPr/>
          <p:nvPr/>
        </p:nvSpPr>
        <p:spPr>
          <a:xfrm>
            <a:off x="640080" y="1400000"/>
            <a:ext cx="60000" cy="7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>
            <a:spLocks noGrp="1"/>
          </p:cNvSpPr>
          <p:nvPr/>
        </p:nvSpPr>
        <p:spPr>
          <a:xfrm>
            <a:off x="700080" y="1400000"/>
            <a:ext cx="453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50" b="1" dirty="0">
                <a:solidFill>
                  <a:srgbClr val="223047"/>
                </a:solidFill>
                <a:latin typeface="Calibri"/>
              </a:rPr>
              <a:t>Diff rules vs __rules_snapshot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5A6473"/>
                </a:solidFill>
                <a:latin typeface="Calibri"/>
              </a:rPr>
              <a:t>changed / added / removed categories</a:t>
            </a:r>
          </a:p>
        </p:txBody>
      </p:sp>
      <p:sp>
        <p:nvSpPr>
          <p:cNvPr id="11" name="r11"/>
          <p:cNvSpPr/>
          <p:nvPr/>
        </p:nvSpPr>
        <p:spPr>
          <a:xfrm>
            <a:off x="640080" y="2400000"/>
            <a:ext cx="4650000" cy="70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640080" y="2400000"/>
            <a:ext cx="60000" cy="7000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13"/>
          <p:cNvSpPr>
            <a:spLocks noGrp="1"/>
          </p:cNvSpPr>
          <p:nvPr/>
        </p:nvSpPr>
        <p:spPr>
          <a:xfrm>
            <a:off x="700080" y="2400000"/>
            <a:ext cx="453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50" b="1" dirty="0">
                <a:solidFill>
                  <a:srgbClr val="223047"/>
                </a:solidFill>
                <a:latin typeface="Calibri"/>
              </a:rPr>
              <a:t>Affected columns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5A6473"/>
                </a:solidFill>
                <a:latin typeface="Calibri"/>
              </a:rPr>
              <a:t>changed cats + their ancestors (roll-up)</a:t>
            </a:r>
          </a:p>
        </p:txBody>
      </p:sp>
      <p:cxnSp>
        <p:nvCxnSpPr>
          <p:cNvPr id="14" name="c14"/>
          <p:cNvCxnSpPr/>
          <p:nvPr/>
        </p:nvCxnSpPr>
        <p:spPr>
          <a:xfrm>
            <a:off x="2965080" y="2100000"/>
            <a:ext cx="0" cy="300000"/>
          </a:xfrm>
          <a:prstGeom prst="straightConnector1">
            <a:avLst/>
          </a:prstGeom>
          <a:ln w="19050">
            <a:solidFill>
              <a:srgbClr val="2E6FF2"/>
            </a:solidFill>
            <a:tailEnd type="triangle" w="med" len="med"/>
          </a:ln>
        </p:spPr>
      </p:cxnSp>
      <p:sp>
        <p:nvSpPr>
          <p:cNvPr id="15" name="r15"/>
          <p:cNvSpPr/>
          <p:nvPr/>
        </p:nvSpPr>
        <p:spPr>
          <a:xfrm>
            <a:off x="640080" y="3400000"/>
            <a:ext cx="4650000" cy="70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16" name="r16"/>
          <p:cNvSpPr/>
          <p:nvPr/>
        </p:nvSpPr>
        <p:spPr>
          <a:xfrm>
            <a:off x="640080" y="3400000"/>
            <a:ext cx="60000" cy="700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17"/>
          <p:cNvSpPr>
            <a:spLocks noGrp="1"/>
          </p:cNvSpPr>
          <p:nvPr/>
        </p:nvSpPr>
        <p:spPr>
          <a:xfrm>
            <a:off x="700080" y="3400000"/>
            <a:ext cx="453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50" b="1" dirty="0">
                <a:solidFill>
                  <a:srgbClr val="223047"/>
                </a:solidFill>
                <a:latin typeface="Calibri"/>
              </a:rPr>
              <a:t>Candidate rows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5A6473"/>
                </a:solidFill>
                <a:latin typeface="Calibri"/>
              </a:rPr>
              <a:t>currently-tagged ∪ new-keyword pre-filter</a:t>
            </a:r>
          </a:p>
        </p:txBody>
      </p:sp>
      <p:cxnSp>
        <p:nvCxnSpPr>
          <p:cNvPr id="18" name="c18"/>
          <p:cNvCxnSpPr/>
          <p:nvPr/>
        </p:nvCxnSpPr>
        <p:spPr>
          <a:xfrm>
            <a:off x="2965080" y="3100000"/>
            <a:ext cx="0" cy="300000"/>
          </a:xfrm>
          <a:prstGeom prst="straightConnector1">
            <a:avLst/>
          </a:prstGeom>
          <a:ln w="19050">
            <a:solidFill>
              <a:srgbClr val="2E6FF2"/>
            </a:solidFill>
            <a:tailEnd type="triangle" w="med" len="med"/>
          </a:ln>
        </p:spPr>
      </p:cxnSp>
      <p:sp>
        <p:nvSpPr>
          <p:cNvPr id="19" name="r19"/>
          <p:cNvSpPr/>
          <p:nvPr/>
        </p:nvSpPr>
        <p:spPr>
          <a:xfrm>
            <a:off x="640080" y="4400000"/>
            <a:ext cx="4650000" cy="70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20" name="r20"/>
          <p:cNvSpPr/>
          <p:nvPr/>
        </p:nvSpPr>
        <p:spPr>
          <a:xfrm>
            <a:off x="640080" y="4400000"/>
            <a:ext cx="60000" cy="700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21"/>
          <p:cNvSpPr>
            <a:spLocks noGrp="1"/>
          </p:cNvSpPr>
          <p:nvPr/>
        </p:nvSpPr>
        <p:spPr>
          <a:xfrm>
            <a:off x="700080" y="4400000"/>
            <a:ext cx="453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50" b="1" dirty="0">
                <a:solidFill>
                  <a:srgbClr val="223047"/>
                </a:solidFill>
                <a:latin typeface="Calibri"/>
              </a:rPr>
              <a:t>Recompute on candidates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5A6473"/>
                </a:solidFill>
                <a:latin typeface="Calibri"/>
              </a:rPr>
              <a:t>same tagger, affected columns only</a:t>
            </a:r>
          </a:p>
        </p:txBody>
      </p:sp>
      <p:cxnSp>
        <p:nvCxnSpPr>
          <p:cNvPr id="22" name="c22"/>
          <p:cNvCxnSpPr/>
          <p:nvPr/>
        </p:nvCxnSpPr>
        <p:spPr>
          <a:xfrm>
            <a:off x="2965080" y="4100000"/>
            <a:ext cx="0" cy="300000"/>
          </a:xfrm>
          <a:prstGeom prst="straightConnector1">
            <a:avLst/>
          </a:prstGeom>
          <a:ln w="19050">
            <a:solidFill>
              <a:srgbClr val="2E6FF2"/>
            </a:solidFill>
            <a:tailEnd type="triangle" w="med" len="med"/>
          </a:ln>
        </p:spPr>
      </p:cxnSp>
      <p:sp>
        <p:nvSpPr>
          <p:cNvPr id="23" name="r23"/>
          <p:cNvSpPr/>
          <p:nvPr/>
        </p:nvSpPr>
        <p:spPr>
          <a:xfrm>
            <a:off x="640080" y="5400000"/>
            <a:ext cx="4650000" cy="700000"/>
          </a:xfrm>
          <a:prstGeom prst="roundRect">
            <a:avLst/>
          </a:prstGeom>
          <a:solidFill>
            <a:srgbClr val="E7EDF6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24" name="r24"/>
          <p:cNvSpPr/>
          <p:nvPr/>
        </p:nvSpPr>
        <p:spPr>
          <a:xfrm>
            <a:off x="640080" y="5400000"/>
            <a:ext cx="60000" cy="700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25"/>
          <p:cNvSpPr>
            <a:spLocks noGrp="1"/>
          </p:cNvSpPr>
          <p:nvPr/>
        </p:nvSpPr>
        <p:spPr>
          <a:xfrm>
            <a:off x="700080" y="5400000"/>
            <a:ext cx="453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50" b="1" dirty="0">
                <a:solidFill>
                  <a:srgbClr val="223047"/>
                </a:solidFill>
                <a:latin typeface="Calibri"/>
              </a:rPr>
              <a:t>MERGE into tags in place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5A6473"/>
                </a:solidFill>
                <a:latin typeface="Calibri"/>
              </a:rPr>
              <a:t>refresh frequencies + snapshot</a:t>
            </a:r>
          </a:p>
        </p:txBody>
      </p:sp>
      <p:cxnSp>
        <p:nvCxnSpPr>
          <p:cNvPr id="26" name="c26"/>
          <p:cNvCxnSpPr/>
          <p:nvPr/>
        </p:nvCxnSpPr>
        <p:spPr>
          <a:xfrm>
            <a:off x="2965080" y="5100000"/>
            <a:ext cx="0" cy="300000"/>
          </a:xfrm>
          <a:prstGeom prst="straightConnector1">
            <a:avLst/>
          </a:prstGeom>
          <a:ln w="19050">
            <a:solidFill>
              <a:srgbClr val="2E6FF2"/>
            </a:solidFill>
            <a:tailEnd type="triangle" w="med" len="med"/>
          </a:ln>
        </p:spPr>
      </p:cxnSp>
      <p:sp>
        <p:nvSpPr>
          <p:cNvPr id="27" name="r27"/>
          <p:cNvSpPr/>
          <p:nvPr/>
        </p:nvSpPr>
        <p:spPr>
          <a:xfrm>
            <a:off x="5810080" y="1400000"/>
            <a:ext cx="574184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28" name="r28"/>
          <p:cNvSpPr/>
          <p:nvPr/>
        </p:nvSpPr>
        <p:spPr>
          <a:xfrm>
            <a:off x="5810080" y="1400000"/>
            <a:ext cx="60000" cy="15000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29"/>
          <p:cNvSpPr>
            <a:spLocks noGrp="1"/>
          </p:cNvSpPr>
          <p:nvPr/>
        </p:nvSpPr>
        <p:spPr>
          <a:xfrm>
            <a:off x="5870080" y="1400000"/>
            <a:ext cx="5621840" cy="15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300" b="1" dirty="0">
                <a:solidFill>
                  <a:srgbClr val="223047"/>
                </a:solidFill>
                <a:latin typeface="Calibri"/>
              </a:rPr>
              <a:t>Why it's safe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5A6473"/>
                </a:solidFill>
                <a:latin typeface="Calibri"/>
              </a:rPr>
              <a:t>A tag is a deterministic function of text + rule. Unchanged rules can't change a column; a changed rule can only flip sentences that match the OLD or NEW keywords.</a:t>
            </a:r>
          </a:p>
        </p:txBody>
      </p:sp>
      <p:sp>
        <p:nvSpPr>
          <p:cNvPr id="30" name="r30"/>
          <p:cNvSpPr/>
          <p:nvPr/>
        </p:nvSpPr>
        <p:spPr>
          <a:xfrm>
            <a:off x="5810080" y="3100000"/>
            <a:ext cx="574184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31" name="r31"/>
          <p:cNvSpPr/>
          <p:nvPr/>
        </p:nvSpPr>
        <p:spPr>
          <a:xfrm>
            <a:off x="5810080" y="3100000"/>
            <a:ext cx="60000" cy="1500000"/>
          </a:xfrm>
          <a:prstGeom prst="rect">
            <a:avLst/>
          </a:prstGeom>
          <a:solidFill>
            <a:srgbClr val="B9770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32"/>
          <p:cNvSpPr>
            <a:spLocks noGrp="1"/>
          </p:cNvSpPr>
          <p:nvPr/>
        </p:nvSpPr>
        <p:spPr>
          <a:xfrm>
            <a:off x="5870080" y="3100000"/>
            <a:ext cx="5621840" cy="15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300" b="1" dirty="0">
                <a:solidFill>
                  <a:srgbClr val="223047"/>
                </a:solidFill>
                <a:latin typeface="Calibri"/>
              </a:rPr>
              <a:t>Guardrails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5A6473"/>
                </a:solidFill>
                <a:latin typeface="Calibri"/>
              </a:rPr>
              <a:t>Global scope-filter change → abort (scope moves for every row). Fuzzy / attribute keyword seeds a text pre-filter can't bound → that one column falls back to a full in-scope scan.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AI_CLASSIFY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Purpose-built classifier (v2.1)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9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40080" y="1420000"/>
            <a:ext cx="10911840" cy="493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6FF2"/>
                </a:solidFill>
                <a:latin typeface="Calibri"/>
              </a:rPr>
              <a:t>The function: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ai_classify(text, labels, MAP('version','2.1', …)) — native Databricks SQL, no prompt to write.</a:t>
            </a:r>
          </a:p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6FF2"/>
                </a:solidFill>
                <a:latin typeface="Calibri"/>
              </a:rPr>
              <a:t>Labels with descriptions: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labels are a JSON object {category: definition}, so the model sees each category's business definition (no cryptic ≤50-char labels).</a:t>
            </a:r>
          </a:p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9E5B"/>
                </a:solidFill>
                <a:latin typeface="Calibri"/>
              </a:rPr>
              <a:t>Multi-label: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'multilabel'='true' returns ALL applicable categories; nothing matches → empty list (no synthetic “None of the above”). Matches the rule engine + Qualtrics.</a:t>
            </a:r>
          </a:p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6FF2"/>
                </a:solidFill>
                <a:latin typeface="Calibri"/>
              </a:rPr>
              <a:t>Confidence + rationale: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0–1 confidence per label for triage; rationales optional (off in prod — extra output tokens).</a:t>
            </a:r>
          </a:p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C0392B"/>
                </a:solidFill>
                <a:latin typeface="Calibri"/>
              </a:rPr>
              <a:t>Still a FIXED managed model: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you CANNOT choose Claude/GPT — so its quality ceiling is capped vs. the Sonnet ai_query path.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AI_CLASSIFY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Pipeline — three batch SQL statements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10</a:t>
            </a:r>
          </a:p>
        </p:txBody>
      </p:sp>
      <p:sp>
        <p:nvSpPr>
          <p:cNvPr id="8" name="r8"/>
          <p:cNvSpPr/>
          <p:nvPr/>
        </p:nvSpPr>
        <p:spPr>
          <a:xfrm>
            <a:off x="640080" y="1380000"/>
            <a:ext cx="10911840" cy="1080000"/>
          </a:xfrm>
          <a:prstGeom prst="roundRect">
            <a:avLst/>
          </a:prstGeom>
          <a:solidFill>
            <a:srgbClr val="E7EDF6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9" name="r9"/>
          <p:cNvSpPr/>
          <p:nvPr/>
        </p:nvSpPr>
        <p:spPr>
          <a:xfrm>
            <a:off x="640080" y="1380000"/>
            <a:ext cx="60000" cy="10800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>
            <a:spLocks noGrp="1"/>
          </p:cNvSpPr>
          <p:nvPr/>
        </p:nvSpPr>
        <p:spPr>
          <a:xfrm>
            <a:off x="700080" y="1380000"/>
            <a:ext cx="10791840" cy="10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300" b="1" dirty="0">
                <a:solidFill>
                  <a:srgbClr val="223047"/>
                </a:solidFill>
                <a:latin typeface="Calibri"/>
              </a:rPr>
              <a:t>1 · scoped_tmp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dirty="0">
                <a:solidFill>
                  <a:srgbClr val="5A6473"/>
                </a:solidFill>
                <a:latin typeface="Consolas"/>
              </a:rPr>
              <a:t>CREATE TABLE … the in-scope rows for the day (English, audio, customer-side)</a:t>
            </a:r>
          </a:p>
        </p:txBody>
      </p:sp>
      <p:sp>
        <p:nvSpPr>
          <p:cNvPr id="11" name="r11"/>
          <p:cNvSpPr/>
          <p:nvPr/>
        </p:nvSpPr>
        <p:spPr>
          <a:xfrm>
            <a:off x="640080" y="2780000"/>
            <a:ext cx="10911840" cy="108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640080" y="2780000"/>
            <a:ext cx="60000" cy="1080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13"/>
          <p:cNvSpPr>
            <a:spLocks noGrp="1"/>
          </p:cNvSpPr>
          <p:nvPr/>
        </p:nvSpPr>
        <p:spPr>
          <a:xfrm>
            <a:off x="700080" y="2780000"/>
            <a:ext cx="10791840" cy="10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300" b="1" dirty="0">
                <a:solidFill>
                  <a:srgbClr val="223047"/>
                </a:solidFill>
                <a:latin typeface="Calibri"/>
              </a:rPr>
              <a:t>2 · bysentence_tmp   — the paid step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dirty="0">
                <a:solidFill>
                  <a:srgbClr val="5A6473"/>
                </a:solidFill>
                <a:latin typeface="Consolas"/>
              </a:rPr>
              <a:t>per DISTINCT sentence (frequency-first, sample_limit):  ai_classify(words, :labels, MAP('version','2.1','multilabel','true',…)) → matched label names + confidence</a:t>
            </a:r>
          </a:p>
        </p:txBody>
      </p:sp>
      <p:cxnSp>
        <p:nvCxnSpPr>
          <p:cNvPr id="14" name="c14"/>
          <p:cNvCxnSpPr/>
          <p:nvPr/>
        </p:nvCxnSpPr>
        <p:spPr>
          <a:xfrm>
            <a:off x="6096000" y="2460000"/>
            <a:ext cx="0" cy="320000"/>
          </a:xfrm>
          <a:prstGeom prst="straightConnector1">
            <a:avLst/>
          </a:prstGeom>
          <a:ln w="19050">
            <a:solidFill>
              <a:srgbClr val="2E6FF2"/>
            </a:solidFill>
            <a:tailEnd type="triangle" w="med" len="med"/>
          </a:ln>
        </p:spPr>
      </p:cxnSp>
      <p:sp>
        <p:nvSpPr>
          <p:cNvPr id="15" name="r15"/>
          <p:cNvSpPr/>
          <p:nvPr/>
        </p:nvSpPr>
        <p:spPr>
          <a:xfrm>
            <a:off x="640080" y="4180000"/>
            <a:ext cx="10911840" cy="1080000"/>
          </a:xfrm>
          <a:prstGeom prst="roundRect">
            <a:avLst/>
          </a:prstGeom>
          <a:solidFill>
            <a:srgbClr val="E7EDF6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16" name="r16"/>
          <p:cNvSpPr/>
          <p:nvPr/>
        </p:nvSpPr>
        <p:spPr>
          <a:xfrm>
            <a:off x="640080" y="4180000"/>
            <a:ext cx="60000" cy="10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17"/>
          <p:cNvSpPr>
            <a:spLocks noGrp="1"/>
          </p:cNvSpPr>
          <p:nvPr/>
        </p:nvSpPr>
        <p:spPr>
          <a:xfrm>
            <a:off x="700080" y="4180000"/>
            <a:ext cx="10791840" cy="10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300" b="1" dirty="0">
                <a:solidFill>
                  <a:srgbClr val="223047"/>
                </a:solidFill>
                <a:latin typeface="Calibri"/>
              </a:rPr>
              <a:t>3 · tags table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dirty="0">
                <a:solidFill>
                  <a:srgbClr val="5A6473"/>
                </a:solidFill>
                <a:latin typeface="Consolas"/>
              </a:rPr>
              <a:t>fan labels to all rows;  column = arrays_overlap(ai_labels, array(trigger_names)) → roll up;  then DROP the temps</a:t>
            </a:r>
          </a:p>
        </p:txBody>
      </p:sp>
      <p:cxnSp>
        <p:nvCxnSpPr>
          <p:cNvPr id="18" name="c18"/>
          <p:cNvCxnSpPr/>
          <p:nvPr/>
        </p:nvCxnSpPr>
        <p:spPr>
          <a:xfrm>
            <a:off x="6096000" y="3860000"/>
            <a:ext cx="0" cy="320000"/>
          </a:xfrm>
          <a:prstGeom prst="straightConnector1">
            <a:avLst/>
          </a:prstGeom>
          <a:ln w="19050">
            <a:solidFill>
              <a:srgbClr val="2E6FF2"/>
            </a:solidFill>
            <a:tailEnd type="triangle" w="med" len="med"/>
          </a:ln>
        </p:spPr>
      </p:cxnSp>
      <p:sp>
        <p:nvSpPr>
          <p:cNvPr id="19" name="t19"/>
          <p:cNvSpPr>
            <a:spLocks noGrp="1"/>
          </p:cNvSpPr>
          <p:nvPr/>
        </p:nvSpPr>
        <p:spPr>
          <a:xfrm>
            <a:off x="640080" y="5620000"/>
            <a:ext cx="10911840" cy="5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6473"/>
                </a:solidFill>
                <a:latin typeface="Calibri"/>
              </a:rPr>
              <a:t>Dedup: identical sentences are classified once (you pay per UNIQUE sentence), then the label fans out to every row that shares the 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AI_QUERY_SQL · 1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Custom-prompt, multi-label, batch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11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40080" y="1420000"/>
            <a:ext cx="10911840" cy="493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6FF2"/>
                </a:solidFill>
                <a:latin typeface="Calibri"/>
              </a:rPr>
              <a:t>The function: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ai_query(endpoint, prompt + sentence) → a JSON array of ALL applicable categories (multi-label), steered by each category's definition in the prompt.</a:t>
            </a:r>
          </a:p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6FF2"/>
                </a:solidFill>
                <a:latin typeface="Calibri"/>
              </a:rPr>
              <a:t>Set-based BATCH SQL: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CREATE TABLE AS SELECT ai_query(...) on a SQL warehouse via the Statement Execution API — the engine drives high concurrency to the endpoint (vs. PySpark's partition-bound crawl).</a:t>
            </a:r>
          </a:p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6FF2"/>
                </a:solidFill>
                <a:latin typeface="Calibri"/>
              </a:rPr>
              <a:t>Dedup: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classify each DISTINCT sentence once, fan the tags to every row that shares it.</a:t>
            </a:r>
          </a:p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6FF2"/>
                </a:solidFill>
                <a:latin typeface="Calibri"/>
              </a:rPr>
              <a:t>Roll-up compiled to SQL: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arrays_overlap over precomputed per-category trigger names — no UDF (slide 14).</a:t>
            </a:r>
          </a:p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9E5B"/>
                </a:solidFill>
                <a:latin typeface="Calibri"/>
              </a:rPr>
              <a:t>Your choice of model: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default databricks-claude-sonnet-4-6 (best quality tested). Two modes: dedup or context (slide 13).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AI_QUERY_SQL · 2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The full logic — three statements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12</a:t>
            </a:r>
          </a:p>
        </p:txBody>
      </p:sp>
      <p:sp>
        <p:nvSpPr>
          <p:cNvPr id="8" name="r8"/>
          <p:cNvSpPr/>
          <p:nvPr/>
        </p:nvSpPr>
        <p:spPr>
          <a:xfrm>
            <a:off x="640080" y="1380000"/>
            <a:ext cx="10911840" cy="1090000"/>
          </a:xfrm>
          <a:prstGeom prst="roundRect">
            <a:avLst/>
          </a:prstGeom>
          <a:solidFill>
            <a:srgbClr val="E7EDF6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9" name="r9"/>
          <p:cNvSpPr/>
          <p:nvPr/>
        </p:nvSpPr>
        <p:spPr>
          <a:xfrm>
            <a:off x="640080" y="1380000"/>
            <a:ext cx="60000" cy="10900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>
            <a:spLocks noGrp="1"/>
          </p:cNvSpPr>
          <p:nvPr/>
        </p:nvSpPr>
        <p:spPr>
          <a:xfrm>
            <a:off x="700080" y="1380000"/>
            <a:ext cx="10791840" cy="109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50" b="1" dirty="0">
                <a:solidFill>
                  <a:srgbClr val="223047"/>
                </a:solidFill>
                <a:latin typeface="Calibri"/>
              </a:rPr>
              <a:t>1 · scoped_tmp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5A6473"/>
                </a:solidFill>
                <a:latin typeface="Consolas"/>
              </a:rPr>
              <a:t>in-scope rows for the day  (EN + audio + customer-side, optional hour window, optional min_words filter)</a:t>
            </a:r>
          </a:p>
        </p:txBody>
      </p:sp>
      <p:sp>
        <p:nvSpPr>
          <p:cNvPr id="11" name="r11"/>
          <p:cNvSpPr/>
          <p:nvPr/>
        </p:nvSpPr>
        <p:spPr>
          <a:xfrm>
            <a:off x="640080" y="2770000"/>
            <a:ext cx="10911840" cy="109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640080" y="2770000"/>
            <a:ext cx="60000" cy="1090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13"/>
          <p:cNvSpPr>
            <a:spLocks noGrp="1"/>
          </p:cNvSpPr>
          <p:nvPr/>
        </p:nvSpPr>
        <p:spPr>
          <a:xfrm>
            <a:off x="700080" y="2770000"/>
            <a:ext cx="10791840" cy="109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50" b="1" dirty="0">
                <a:solidFill>
                  <a:srgbClr val="223047"/>
                </a:solidFill>
                <a:latin typeface="Calibri"/>
              </a:rPr>
              <a:t>2 · bysentence_tmp   — the ONLY paid, model-bound step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5A6473"/>
                </a:solidFill>
                <a:latin typeface="Consolas"/>
              </a:rPr>
              <a:t>SELECT words, from_json( ai_query(endpoint, concat(:prompt, words)) )  AS ai_categories   FROM (distinct sentences, frequency-first / random, sample_limit)</a:t>
            </a:r>
          </a:p>
        </p:txBody>
      </p:sp>
      <p:cxnSp>
        <p:nvCxnSpPr>
          <p:cNvPr id="14" name="c14"/>
          <p:cNvCxnSpPr/>
          <p:nvPr/>
        </p:nvCxnSpPr>
        <p:spPr>
          <a:xfrm>
            <a:off x="6096000" y="2470000"/>
            <a:ext cx="0" cy="300000"/>
          </a:xfrm>
          <a:prstGeom prst="straightConnector1">
            <a:avLst/>
          </a:prstGeom>
          <a:ln w="19050">
            <a:solidFill>
              <a:srgbClr val="2E6FF2"/>
            </a:solidFill>
            <a:tailEnd type="triangle" w="med" len="med"/>
          </a:ln>
        </p:spPr>
      </p:cxnSp>
      <p:sp>
        <p:nvSpPr>
          <p:cNvPr id="15" name="r15"/>
          <p:cNvSpPr/>
          <p:nvPr/>
        </p:nvSpPr>
        <p:spPr>
          <a:xfrm>
            <a:off x="640080" y="4160000"/>
            <a:ext cx="10911840" cy="1090000"/>
          </a:xfrm>
          <a:prstGeom prst="roundRect">
            <a:avLst/>
          </a:prstGeom>
          <a:solidFill>
            <a:srgbClr val="E7EDF6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16" name="r16"/>
          <p:cNvSpPr/>
          <p:nvPr/>
        </p:nvSpPr>
        <p:spPr>
          <a:xfrm>
            <a:off x="640080" y="4160000"/>
            <a:ext cx="60000" cy="109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17"/>
          <p:cNvSpPr>
            <a:spLocks noGrp="1"/>
          </p:cNvSpPr>
          <p:nvPr/>
        </p:nvSpPr>
        <p:spPr>
          <a:xfrm>
            <a:off x="700080" y="4160000"/>
            <a:ext cx="10791840" cy="109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250" b="1" dirty="0">
                <a:solidFill>
                  <a:srgbClr val="223047"/>
                </a:solidFill>
                <a:latin typeface="Calibri"/>
              </a:rPr>
              <a:t>3 · tags table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5A6473"/>
                </a:solidFill>
                <a:latin typeface="Consolas"/>
              </a:rPr>
              <a:t>join back to ALL scoped rows;  per category:  arrays_overlap(ai_categories, array(trigger_names)) → 0/1;  then DROP the temps</a:t>
            </a:r>
          </a:p>
        </p:txBody>
      </p:sp>
      <p:cxnSp>
        <p:nvCxnSpPr>
          <p:cNvPr id="18" name="c18"/>
          <p:cNvCxnSpPr/>
          <p:nvPr/>
        </p:nvCxnSpPr>
        <p:spPr>
          <a:xfrm>
            <a:off x="6096000" y="3860000"/>
            <a:ext cx="0" cy="300000"/>
          </a:xfrm>
          <a:prstGeom prst="straightConnector1">
            <a:avLst/>
          </a:prstGeom>
          <a:ln w="19050">
            <a:solidFill>
              <a:srgbClr val="2E6FF2"/>
            </a:solidFill>
            <a:tailEnd type="triangle" w="med" len="med"/>
          </a:ln>
        </p:spPr>
      </p:cxnSp>
      <p:sp>
        <p:nvSpPr>
          <p:cNvPr id="19" name="t19"/>
          <p:cNvSpPr>
            <a:spLocks noGrp="1"/>
          </p:cNvSpPr>
          <p:nvPr/>
        </p:nvSpPr>
        <p:spPr>
          <a:xfrm>
            <a:off x="640080" y="5580000"/>
            <a:ext cx="10911840" cy="5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6473"/>
                </a:solidFill>
                <a:latin typeface="Calibri"/>
              </a:rPr>
              <a:t>The prompt is passed as a bound :prompt parameter so its quotes/newlines never touch the SQL text. Serverless-safe: temp tables materialize each step exactly once (no persist/cache).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AI_QUERY_SQL · 3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Two modes: dedup vs. context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13</a:t>
            </a:r>
          </a:p>
        </p:txBody>
      </p:sp>
      <p:sp>
        <p:nvSpPr>
          <p:cNvPr id="8" name="r8"/>
          <p:cNvSpPr/>
          <p:nvPr/>
        </p:nvSpPr>
        <p:spPr>
          <a:xfrm>
            <a:off x="640080" y="1460000"/>
            <a:ext cx="5275920" cy="2650000"/>
          </a:xfrm>
          <a:prstGeom prst="round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/>
          <a:lstStyle/>
          <a:p/>
        </p:txBody>
      </p:sp>
      <p:sp>
        <p:nvSpPr>
          <p:cNvPr id="9" name="t9"/>
          <p:cNvSpPr>
            <a:spLocks noGrp="1"/>
          </p:cNvSpPr>
          <p:nvPr/>
        </p:nvSpPr>
        <p:spPr>
          <a:xfrm>
            <a:off x="700080" y="1460000"/>
            <a:ext cx="5155920" cy="26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/>
              </a:rPr>
              <a:t>DEDUP   (context_window = 0)</a:t>
            </a:r>
          </a:p>
        </p:txBody>
      </p:sp>
      <p:sp>
        <p:nvSpPr>
          <p:cNvPr id="10" name="t10"/>
          <p:cNvSpPr>
            <a:spLocks noGrp="1"/>
          </p:cNvSpPr>
          <p:nvPr/>
        </p:nvSpPr>
        <p:spPr>
          <a:xfrm>
            <a:off x="680080" y="2080000"/>
            <a:ext cx="5195920" cy="427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274320" indent="-274320" algn="l">
              <a:lnSpc>
                <a:spcPct val="1040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▪"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Classify each DISTINCT sentence once</a:t>
            </a:r>
            <a:r>
              <a:rPr lang="en-US" sz="1200" dirty="0">
                <a:solidFill>
                  <a:srgbClr val="223047"/>
                </a:solidFill>
                <a:latin typeface="Calibri"/>
              </a:rPr>
              <a:t> then fan the tag to all rows sharing it.</a:t>
            </a:r>
          </a:p>
          <a:p>
            <a:pPr marL="274320" indent="-274320" algn="l">
              <a:lnSpc>
                <a:spcPct val="1040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▪"/>
            </a:pPr>
            <a:r>
              <a:rPr lang="en-US" sz="1200" b="1" dirty="0">
                <a:solidFill>
                  <a:srgbClr val="2E6FF2"/>
                </a:solidFill>
                <a:latin typeface="Calibri"/>
              </a:rPr>
              <a:t>Cheapest</a:t>
            </a:r>
            <a:r>
              <a:rPr lang="en-US" sz="1200" dirty="0">
                <a:solidFill>
                  <a:srgbClr val="223047"/>
                </a:solidFill>
                <a:latin typeface="Calibri"/>
              </a:rPr>
              <a:t> — pay per unique sentence.</a:t>
            </a:r>
          </a:p>
          <a:p>
            <a:pPr marL="274320" indent="-274320" algn="l">
              <a:lnSpc>
                <a:spcPct val="1040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▪"/>
            </a:pPr>
            <a:r>
              <a:rPr lang="en-US" sz="1200" b="1" dirty="0">
                <a:solidFill>
                  <a:srgbClr val="2E6FF2"/>
                </a:solidFill>
                <a:latin typeface="Calibri"/>
              </a:rPr>
              <a:t>Trade-off:</a:t>
            </a:r>
            <a:r>
              <a:rPr lang="en-US" sz="1200" dirty="0">
                <a:solidFill>
                  <a:srgbClr val="223047"/>
                </a:solidFill>
                <a:latin typeface="Calibri"/>
              </a:rPr>
              <a:t> the sentence is judged in isolation.</a:t>
            </a:r>
          </a:p>
          <a:p>
            <a:pPr marL="274320" indent="-274320" algn="l">
              <a:lnSpc>
                <a:spcPct val="1040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▪"/>
            </a:pPr>
            <a:r>
              <a:rPr lang="en-US" sz="1200" b="1" dirty="0">
                <a:solidFill>
                  <a:srgbClr val="2E6FF2"/>
                </a:solidFill>
                <a:latin typeface="Calibri"/>
              </a:rPr>
              <a:t>Full-day default</a:t>
            </a:r>
            <a:r>
              <a:rPr lang="en-US" sz="1200" dirty="0">
                <a:solidFill>
                  <a:srgbClr val="223047"/>
                </a:solidFill>
                <a:latin typeface="Calibri"/>
              </a:rPr>
              <a:t> (~1.25M distinct sentences).</a:t>
            </a:r>
          </a:p>
        </p:txBody>
      </p:sp>
      <p:sp>
        <p:nvSpPr>
          <p:cNvPr id="11" name="r11"/>
          <p:cNvSpPr/>
          <p:nvPr/>
        </p:nvSpPr>
        <p:spPr>
          <a:xfrm>
            <a:off x="6276000" y="1460000"/>
            <a:ext cx="5275920" cy="2650000"/>
          </a:xfrm>
          <a:prstGeom prst="roundRect">
            <a:avLst/>
          </a:prstGeom>
          <a:solidFill>
            <a:srgbClr val="6C4CB6"/>
          </a:solidFill>
          <a:ln w="12700">
            <a:solidFill>
              <a:srgbClr val="6C4CB6"/>
            </a:solidFill>
          </a:ln>
        </p:spPr>
        <p:txBody>
          <a:bodyPr/>
          <a:lstStyle/>
          <a:p/>
        </p:txBody>
      </p:sp>
      <p:sp>
        <p:nvSpPr>
          <p:cNvPr id="12" name="t12"/>
          <p:cNvSpPr>
            <a:spLocks noGrp="1"/>
          </p:cNvSpPr>
          <p:nvPr/>
        </p:nvSpPr>
        <p:spPr>
          <a:xfrm>
            <a:off x="6336000" y="1460000"/>
            <a:ext cx="5155920" cy="26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/>
              </a:rPr>
              <a:t>CONTEXT   (context_window &gt; 0)</a:t>
            </a:r>
          </a:p>
        </p:txBody>
      </p:sp>
      <p:sp>
        <p:nvSpPr>
          <p:cNvPr id="13" name="t13"/>
          <p:cNvSpPr>
            <a:spLocks noGrp="1"/>
          </p:cNvSpPr>
          <p:nvPr/>
        </p:nvSpPr>
        <p:spPr>
          <a:xfrm>
            <a:off x="6316000" y="2080000"/>
            <a:ext cx="5195920" cy="427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274320" indent="-274320" algn="l">
              <a:lnSpc>
                <a:spcPct val="1040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▪"/>
            </a:pPr>
            <a:r>
              <a:rPr lang="en-US" sz="1200" b="1" dirty="0">
                <a:solidFill>
                  <a:srgbClr val="223047"/>
                </a:solidFill>
                <a:latin typeface="Calibri"/>
              </a:rPr>
              <a:t>Classify each ROW with ±N neighbors</a:t>
            </a:r>
            <a:r>
              <a:rPr lang="en-US" sz="1200" dirty="0">
                <a:solidFill>
                  <a:srgbClr val="223047"/>
                </a:solidFill>
                <a:latin typeface="Calibri"/>
              </a:rPr>
              <a:t> from the same call (LAG/LEAD), wrapped in &gt;&gt;&gt; &lt;&lt;&lt; markers.</a:t>
            </a:r>
          </a:p>
          <a:p>
            <a:pPr marL="274320" indent="-274320" algn="l">
              <a:lnSpc>
                <a:spcPct val="1040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▪"/>
            </a:pPr>
            <a:r>
              <a:rPr lang="en-US" sz="1200" b="1" dirty="0">
                <a:solidFill>
                  <a:srgbClr val="2E6FF2"/>
                </a:solidFill>
                <a:latin typeface="Calibri"/>
              </a:rPr>
              <a:t>No dedup</a:t>
            </a:r>
            <a:r>
              <a:rPr lang="en-US" sz="1200" dirty="0">
                <a:solidFill>
                  <a:srgbClr val="223047"/>
                </a:solidFill>
                <a:latin typeface="Calibri"/>
              </a:rPr>
              <a:t> → one call per row (more calls).</a:t>
            </a:r>
          </a:p>
          <a:p>
            <a:pPr marL="274320" indent="-274320" algn="l">
              <a:lnSpc>
                <a:spcPct val="1040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▪"/>
            </a:pPr>
            <a:r>
              <a:rPr lang="en-US" sz="1200" b="1" dirty="0">
                <a:solidFill>
                  <a:srgbClr val="2E6FF2"/>
                </a:solidFill>
                <a:latin typeface="Calibri"/>
              </a:rPr>
              <a:t>Better on ambiguous</a:t>
            </a:r>
            <a:r>
              <a:rPr lang="en-US" sz="1200" dirty="0">
                <a:solidFill>
                  <a:srgbClr val="223047"/>
                </a:solidFill>
                <a:latin typeface="Calibri"/>
              </a:rPr>
              <a:t> short sentences.</a:t>
            </a:r>
          </a:p>
          <a:p>
            <a:pPr marL="274320" indent="-274320" algn="l">
              <a:lnSpc>
                <a:spcPct val="1040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▪"/>
            </a:pPr>
            <a:r>
              <a:rPr lang="en-US" sz="1200" b="1" dirty="0">
                <a:solidFill>
                  <a:srgbClr val="2E6FF2"/>
                </a:solidFill>
                <a:latin typeface="Calibri"/>
              </a:rPr>
              <a:t>For quality-eval samples,</a:t>
            </a:r>
            <a:r>
              <a:rPr lang="en-US" sz="1200" dirty="0">
                <a:solidFill>
                  <a:srgbClr val="223047"/>
                </a:solidFill>
                <a:latin typeface="Calibri"/>
              </a:rPr>
              <a:t> not full-day scale.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AI_QUERY_SQL · 4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Hierarchy roll-up, compiled to SQL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14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40080" y="1380000"/>
            <a:ext cx="10911840" cy="5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6473"/>
                </a:solidFill>
                <a:latin typeface="Calibri"/>
              </a:rPr>
              <a:t>The LLM returns leaf category NAMES. Each category column turns on when the returned array overlaps its trigger set — itself (if a target) plus any target descendants. Pure SQL, no UDF.</a:t>
            </a:r>
          </a:p>
        </p:txBody>
      </p:sp>
      <p:sp>
        <p:nvSpPr>
          <p:cNvPr id="9" name="r9"/>
          <p:cNvSpPr/>
          <p:nvPr/>
        </p:nvSpPr>
        <p:spPr>
          <a:xfrm>
            <a:off x="640080" y="2060000"/>
            <a:ext cx="3550000" cy="100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10" name="r10"/>
          <p:cNvSpPr/>
          <p:nvPr/>
        </p:nvSpPr>
        <p:spPr>
          <a:xfrm>
            <a:off x="640080" y="2060000"/>
            <a:ext cx="60000" cy="1000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11"/>
          <p:cNvSpPr>
            <a:spLocks noGrp="1"/>
          </p:cNvSpPr>
          <p:nvPr/>
        </p:nvSpPr>
        <p:spPr>
          <a:xfrm>
            <a:off x="700080" y="2060000"/>
            <a:ext cx="343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150" dirty="0">
                <a:solidFill>
                  <a:srgbClr val="5A6473"/>
                </a:solidFill>
                <a:latin typeface="Calibri"/>
              </a:rPr>
              <a:t>ai_query returns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23047"/>
                </a:solidFill>
                <a:latin typeface="Consolas"/>
              </a:rPr>
              <a:t>["Points - Redeem"]</a:t>
            </a:r>
          </a:p>
        </p:txBody>
      </p:sp>
      <p:sp>
        <p:nvSpPr>
          <p:cNvPr id="12" name="r12"/>
          <p:cNvSpPr/>
          <p:nvPr/>
        </p:nvSpPr>
        <p:spPr>
          <a:xfrm>
            <a:off x="4810080" y="2060000"/>
            <a:ext cx="3350000" cy="10000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13" name="r13"/>
          <p:cNvSpPr/>
          <p:nvPr/>
        </p:nvSpPr>
        <p:spPr>
          <a:xfrm>
            <a:off x="4810080" y="2060000"/>
            <a:ext cx="60000" cy="10000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14"/>
          <p:cNvSpPr>
            <a:spLocks noGrp="1"/>
          </p:cNvSpPr>
          <p:nvPr/>
        </p:nvSpPr>
        <p:spPr>
          <a:xfrm>
            <a:off x="4870080" y="2060000"/>
            <a:ext cx="323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150" dirty="0">
                <a:solidFill>
                  <a:srgbClr val="5A6473"/>
                </a:solidFill>
                <a:latin typeface="Calibri"/>
              </a:rPr>
              <a:t>arrays_overlap(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223047"/>
                </a:solidFill>
                <a:latin typeface="Consolas"/>
              </a:rPr>
              <a:t>  ai_categories, array(names))</a:t>
            </a:r>
          </a:p>
        </p:txBody>
      </p:sp>
      <p:cxnSp>
        <p:nvCxnSpPr>
          <p:cNvPr id="15" name="c15"/>
          <p:cNvCxnSpPr/>
          <p:nvPr/>
        </p:nvCxnSpPr>
        <p:spPr>
          <a:xfrm>
            <a:off x="4190080" y="2560000"/>
            <a:ext cx="620000" cy="0"/>
          </a:xfrm>
          <a:prstGeom prst="straightConnector1">
            <a:avLst/>
          </a:prstGeom>
          <a:ln w="19050">
            <a:solidFill>
              <a:srgbClr val="5A6473"/>
            </a:solidFill>
            <a:tailEnd type="triangle" w="med" len="med"/>
          </a:ln>
        </p:spPr>
      </p:cxnSp>
      <p:sp>
        <p:nvSpPr>
          <p:cNvPr id="16" name="r16"/>
          <p:cNvSpPr/>
          <p:nvPr/>
        </p:nvSpPr>
        <p:spPr>
          <a:xfrm>
            <a:off x="8780080" y="1800000"/>
            <a:ext cx="2771840" cy="1520000"/>
          </a:xfrm>
          <a:prstGeom prst="roundRect">
            <a:avLst/>
          </a:prstGeom>
          <a:solidFill>
            <a:srgbClr val="E7EDF6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17" name="r17"/>
          <p:cNvSpPr/>
          <p:nvPr/>
        </p:nvSpPr>
        <p:spPr>
          <a:xfrm>
            <a:off x="8780080" y="1800000"/>
            <a:ext cx="60000" cy="152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18"/>
          <p:cNvSpPr>
            <a:spLocks noGrp="1"/>
          </p:cNvSpPr>
          <p:nvPr/>
        </p:nvSpPr>
        <p:spPr>
          <a:xfrm>
            <a:off x="8840080" y="1800000"/>
            <a:ext cx="2651840" cy="15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150" dirty="0">
                <a:solidFill>
                  <a:srgbClr val="5A6473"/>
                </a:solidFill>
                <a:latin typeface="Calibri"/>
              </a:rPr>
              <a:t>sets these columns = 1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150" b="1" dirty="0">
                <a:solidFill>
                  <a:srgbClr val="223047"/>
                </a:solidFill>
                <a:latin typeface="Consolas"/>
              </a:rPr>
              <a:t>points_redeem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150" b="1" dirty="0">
                <a:solidFill>
                  <a:srgbClr val="223047"/>
                </a:solidFill>
                <a:latin typeface="Consolas"/>
              </a:rPr>
              <a:t>loyalty_rewards_points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223047"/>
                </a:solidFill>
                <a:latin typeface="Consolas"/>
              </a:rPr>
              <a:t>loyalty_rewards   ·   loyalty</a:t>
            </a:r>
          </a:p>
        </p:txBody>
      </p:sp>
      <p:cxnSp>
        <p:nvCxnSpPr>
          <p:cNvPr id="19" name="c19"/>
          <p:cNvCxnSpPr/>
          <p:nvPr/>
        </p:nvCxnSpPr>
        <p:spPr>
          <a:xfrm>
            <a:off x="8160080" y="2560000"/>
            <a:ext cx="620000" cy="0"/>
          </a:xfrm>
          <a:prstGeom prst="straightConnector1">
            <a:avLst/>
          </a:prstGeom>
          <a:ln w="19050">
            <a:solidFill>
              <a:srgbClr val="5A6473"/>
            </a:solidFill>
            <a:tailEnd type="triangle" w="med" len="med"/>
          </a:ln>
        </p:spPr>
      </p:cxnSp>
      <p:sp>
        <p:nvSpPr>
          <p:cNvPr id="20" name="t20"/>
          <p:cNvSpPr>
            <a:spLocks noGrp="1"/>
          </p:cNvSpPr>
          <p:nvPr/>
        </p:nvSpPr>
        <p:spPr>
          <a:xfrm>
            <a:off x="640080" y="3560000"/>
            <a:ext cx="10911840" cy="5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6473"/>
                </a:solidFill>
                <a:latin typeface="Calibri"/>
              </a:rPr>
              <a:t>So a single leaf hit (Points - Redeem) rolls up to its parents — matching how the rule engine and Qualtrics count parent categories.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AI_QUERY_SQL · 5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The prompt (build_prompt in ai_common.py)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15</a:t>
            </a:r>
          </a:p>
        </p:txBody>
      </p:sp>
      <p:sp>
        <p:nvSpPr>
          <p:cNvPr id="8" name="r8"/>
          <p:cNvSpPr/>
          <p:nvPr/>
        </p:nvSpPr>
        <p:spPr>
          <a:xfrm>
            <a:off x="640080" y="1420000"/>
            <a:ext cx="10911840" cy="2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9" name="r9"/>
          <p:cNvSpPr/>
          <p:nvPr/>
        </p:nvSpPr>
        <p:spPr>
          <a:xfrm>
            <a:off x="640080" y="1420000"/>
            <a:ext cx="60000" cy="2900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>
            <a:spLocks noGrp="1"/>
          </p:cNvSpPr>
          <p:nvPr/>
        </p:nvSpPr>
        <p:spPr>
          <a:xfrm>
            <a:off x="700080" y="1420000"/>
            <a:ext cx="10791840" cy="29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/>
              </a:rPr>
              <a:t>build_prompt()  — key instructions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600" dirty="0">
                <a:solidFill>
                  <a:srgbClr val="5A6473"/>
                </a:solidFill>
                <a:latin typeface="Calibri"/>
              </a:rPr>
              <a:t/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180" dirty="0">
                <a:solidFill>
                  <a:srgbClr val="223047"/>
                </a:solidFill>
                <a:latin typeface="Calibri"/>
              </a:rPr>
              <a:t>• “Assign a category ONLY when the sentence CLEARLY expresses it. MOST sentences match nothing → return [].”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180" dirty="0">
                <a:solidFill>
                  <a:srgbClr val="223047"/>
                </a:solidFill>
                <a:latin typeface="Calibri"/>
              </a:rPr>
              <a:t>• Lists each category name + its business definition.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180" dirty="0">
                <a:solidFill>
                  <a:srgbClr val="223047"/>
                </a:solidFill>
                <a:latin typeface="Calibri"/>
              </a:rPr>
              <a:t>• “Do NOT tag Confusing just because the customer asks a question — only when they explicitly say the advisor/info was confusing.”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"/>
              </a:spcAft>
              <a:buNone/>
            </a:pPr>
            <a:r>
              <a:rPr lang="en-US" sz="1180" dirty="0">
                <a:solidFill>
                  <a:srgbClr val="223047"/>
                </a:solidFill>
                <a:latin typeface="Calibri"/>
              </a:rPr>
              <a:t>• If context markers are shown, classify only the sentence between &gt;&gt;&gt; and &lt;&lt;&lt;.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0" dirty="0">
                <a:solidFill>
                  <a:srgbClr val="223047"/>
                </a:solidFill>
                <a:latin typeface="Consolas"/>
              </a:rPr>
              <a:t>• Ends with:  “Reply with ONLY a JSON array … If none apply, reply []. Text: ”</a:t>
            </a:r>
          </a:p>
        </p:txBody>
      </p:sp>
      <p:sp>
        <p:nvSpPr>
          <p:cNvPr id="11" name="t11"/>
          <p:cNvSpPr>
            <a:spLocks noGrp="1"/>
          </p:cNvSpPr>
          <p:nvPr/>
        </p:nvSpPr>
        <p:spPr>
          <a:xfrm>
            <a:off x="640080" y="4440000"/>
            <a:ext cx="10911840" cy="5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6473"/>
                </a:solidFill>
                <a:latin typeface="Calibri"/>
              </a:rPr>
              <a:t>Tightening these rules (especially “most sentences match nothing”) is what stopped the model over-tagging short filler.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CROSS-CUTTING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Execution, scale &amp; serverless notes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16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40080" y="1420000"/>
            <a:ext cx="10911840" cy="493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6FF2"/>
                </a:solidFill>
                <a:latin typeface="Calibri"/>
              </a:rPr>
              <a:t>Statement Execution API: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submit the CTAS, poll until SUCCEEDED (wait_timeout + CONTINUE) — how the DBSQL batch jobs drive the warehouse.</a:t>
            </a:r>
          </a:p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6FF2"/>
                </a:solidFill>
                <a:latin typeface="Calibri"/>
              </a:rPr>
              <a:t>Batch beats per-partition: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set-based ai_query lets the engine manage concurrency to the endpoint; the PySpark per-partition path is bounded by partition count and crawls on big days.</a:t>
            </a:r>
          </a:p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B9770E"/>
                </a:solidFill>
                <a:latin typeface="Calibri"/>
              </a:rPr>
              <a:t>Throughput ceiling: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pay-per-token Sonnet ≈ 2,900 distinct/min; the ai_classify managed model ≈ 4,800/min. A full day (~1.25M distinct) is hours → use PROVISIONED / committed throughput at full scale.</a:t>
            </a:r>
          </a:p>
          <a:p>
            <a:pPr marL="274320" indent="-274320" algn="l">
              <a:lnSpc>
                <a:spcPct val="104000"/>
              </a:lnSpc>
              <a:spcBef>
                <a:spcPts val="440"/>
              </a:spcBef>
              <a:spcAft>
                <a:spcPts val="100"/>
              </a:spcAft>
              <a:buFont typeface="Arial"/>
              <a:buChar char="▪"/>
            </a:pPr>
            <a:r>
              <a:rPr lang="en-US" sz="1550" b="1" dirty="0">
                <a:solidFill>
                  <a:srgbClr val="2E6FF2"/>
                </a:solidFill>
                <a:latin typeface="Calibri"/>
              </a:rPr>
              <a:t>Serverless-safe:</a:t>
            </a:r>
            <a:r>
              <a:rPr lang="en-US" sz="1550" dirty="0">
                <a:solidFill>
                  <a:srgbClr val="223047"/>
                </a:solidFill>
                <a:latin typeface="Calibri"/>
              </a:rPr>
              <a:t> no .persist()/.cache() (forbidden on serverless) — each step materializes to a temp Delta table instead.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SUMMARY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When to use which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17</a:t>
            </a:r>
          </a:p>
        </p:txBody>
      </p:sp>
      <p:graphicFrame>
        <p:nvGraphicFramePr>
          <p:cNvPr id="8" name="tbl8"/>
          <p:cNvGraphicFramePr>
            <a:graphicFrameLocks noGrp="1"/>
          </p:cNvGraphicFramePr>
          <p:nvPr/>
        </p:nvGraphicFramePr>
        <p:xfrm>
          <a:off x="640080" y="1420000"/>
          <a:ext cx="10911840" cy="2720000"/>
        </p:xfrm>
        <a:graphic>
          <a:graphicData uri="http://schemas.openxmlformats.org/drawingml/2006/table">
            <a:tbl>
              <a:tblPr firstRow="1" bandRow="1"/>
              <a:tblGrid>
                <a:gridCol w="2400604"/>
                <a:gridCol w="5237683"/>
                <a:gridCol w="3273553"/>
              </a:tblGrid>
              <a:tr h="748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63152" marR="63152" marT="16000" marB="160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Strengths</a:t>
                      </a:r>
                    </a:p>
                  </a:txBody>
                  <a:tcPr marL="63152" marR="63152" marT="16000" marB="160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Use it for</a:t>
                      </a:r>
                    </a:p>
                  </a:txBody>
                  <a:tcPr marL="63152" marR="63152" marT="16000" marB="16000" anchor="ctr">
                    <a:solidFill>
                      <a:srgbClr val="1B2A4A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223047"/>
                          </a:solidFill>
                          <a:latin typeface="Calibri"/>
                        </a:rPr>
                        <a:t>Rule engine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Deterministic, explainable, free, incremental updates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2E9E5B"/>
                          </a:solidFill>
                          <a:latin typeface="Calibri"/>
                        </a:rPr>
                        <a:t>Production control / source-of-truth match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223047"/>
                          </a:solidFill>
                          <a:latin typeface="Calibri"/>
                        </a:rPr>
                        <a:t>ai_query_sql</a:t>
                      </a:r>
                    </a:p>
                  </a:txBody>
                  <a:tcPr marL="63152" marR="63152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Best AI quality, multi-label, scalable batch, choose the model</a:t>
                      </a:r>
                    </a:p>
                  </a:txBody>
                  <a:tcPr marL="63152" marR="63152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2E6FF2"/>
                          </a:solidFill>
                          <a:latin typeface="Calibri"/>
                        </a:rPr>
                        <a:t>The recommended AI path</a:t>
                      </a:r>
                    </a:p>
                  </a:txBody>
                  <a:tcPr marL="63152" marR="63152" marT="16000" marB="16000" anchor="ctr">
                    <a:solidFill>
                      <a:srgbClr val="FFFFFF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223047"/>
                          </a:solidFill>
                          <a:latin typeface="Calibri"/>
                        </a:rPr>
                        <a:t>ai_classify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dirty="0">
                          <a:solidFill>
                            <a:srgbClr val="223047"/>
                          </a:solidFill>
                          <a:latin typeface="Calibri"/>
                        </a:rPr>
                        <a:t>Simplest, multi-label v2.1 + confidence, but fixed model (no choice)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B9770E"/>
                          </a:solidFill>
                          <a:latin typeface="Calibri"/>
                        </a:rPr>
                        <a:t>Comparison / quick reads only</a:t>
                      </a:r>
                    </a:p>
                  </a:txBody>
                  <a:tcPr marL="63152" marR="63152" marT="16000" marB="16000"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9" name="t9"/>
          <p:cNvSpPr>
            <a:spLocks noGrp="1"/>
          </p:cNvSpPr>
          <p:nvPr/>
        </p:nvSpPr>
        <p:spPr>
          <a:xfrm>
            <a:off x="640080" y="3870000"/>
            <a:ext cx="10911840" cy="5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6473"/>
                </a:solidFill>
                <a:latin typeface="Calibri"/>
              </a:rPr>
              <a:t>All three share category_model.json and the same output shape, so the compare job scores them against each other and against Qualtrics on identical ground.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OC">
  <a:themeElements>
    <a:clrScheme name="VOC">
      <a:dk1>
        <a:srgbClr val="1B2A4A"/>
      </a:dk1>
      <a:lt1>
        <a:srgbClr val="FFFFFF"/>
      </a:lt1>
      <a:dk2>
        <a:srgbClr val="223047"/>
      </a:dk2>
      <a:lt2>
        <a:srgbClr val="E7EDF6"/>
      </a:lt2>
      <a:accent1>
        <a:srgbClr val="2E6FF2"/>
      </a:accent1>
      <a:accent2>
        <a:srgbClr val="0E7C7B"/>
      </a:accent2>
      <a:accent3>
        <a:srgbClr val="2E9E5B"/>
      </a:accent3>
      <a:accent4>
        <a:srgbClr val="B9770E"/>
      </a:accent4>
      <a:accent5>
        <a:srgbClr val="C0392B"/>
      </a:accent5>
      <a:accent6>
        <a:srgbClr val="5A6473"/>
      </a:accent6>
      <a:hlink>
        <a:srgbClr val="2E6FF2"/>
      </a:hlink>
      <a:folHlink>
        <a:srgbClr val="0E7C7B"/>
      </a:folHlink>
    </a:clrScheme>
    <a:fontScheme name="VOC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VO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