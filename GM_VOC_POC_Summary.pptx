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>
          <a:solidFill>
            <a:schemeClr val="tx1"/>
          </a:solidFill>
          <a:latin typeface="Calibri"/>
        </a:defRPr>
      </a:lvl1pPr>
    </p:titleStyle>
    <p:bodyStyle>
      <a:lvl1pPr>
        <a:defRPr sz="1600">
          <a:solidFill>
            <a:schemeClr val="tx1"/>
          </a:solidFill>
          <a:latin typeface="Calibri"/>
        </a:defRPr>
      </a:lvl1pPr>
    </p:bodyStyle>
    <p:otherStyle>
      <a:lvl1pPr>
        <a:defRPr sz="1400">
          <a:solidFill>
            <a:schemeClr val="tx1"/>
          </a:solidFill>
          <a:latin typeface="Calibr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640080" y="2050000"/>
            <a:ext cx="2400000" cy="34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2250000"/>
            <a:ext cx="10911840" cy="1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Voice-of-Customer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Classification POC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395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1800" dirty="0">
                <a:solidFill>
                  <a:srgbClr val="9DB4E0"/>
                </a:solidFill>
                <a:latin typeface="Calibri"/>
              </a:rPr>
              <a:t>Approach, results, and what's next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7C93C0"/>
                </a:solidFill>
                <a:latin typeface="Calibri"/>
              </a:rPr>
              <a:t>Databricks  ·  benchmarked against Qualtrics XM Discover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OVERVIEW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What we set out to do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2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The task: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auto-tag every sentence in GM's call-center transcripts with business categories (e.g. advisor confusing, rewards points, redeem points).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The benchmark: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GM already does this in Qualtrics XM Discover — our source of truth to match.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Two approaches tested: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a deterministic rule engine (a faithful replica of the Qualtrics rules) and AI classification (an LLM reads each sentence). Plus topic-discovery and sentiment as extras.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1B2A4A"/>
                </a:solidFill>
                <a:latin typeface="Calibri"/>
              </a:rPr>
              <a:t>This deck: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the outcomes — what matched, what we fixed, and the one open question on scaling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RESULT 1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The rule engine matches Qualtrics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3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60000"/>
            <a:ext cx="10911840" cy="3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3"/>
                </a:solidFill>
                <a:latin typeface="Calibri"/>
              </a:rPr>
              <a:t>Tag volume vs. Qualtrics, per call (July 2025). Closer to 1.00 = closer match.</a:t>
            </a:r>
          </a:p>
        </p:txBody>
      </p:sp>
      <p:sp>
        <p:nvSpPr>
          <p:cNvPr id="9" name="r9"/>
          <p:cNvSpPr/>
          <p:nvPr/>
        </p:nvSpPr>
        <p:spPr>
          <a:xfrm>
            <a:off x="7841893" y="2000000"/>
            <a:ext cx="15875" cy="173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7141893" y="1700000"/>
            <a:ext cx="1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/>
              </a:rPr>
              <a:t>Qualtrics = 1.00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640080" y="2040000"/>
            <a:ext cx="2807078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Confusing</a:t>
            </a:r>
          </a:p>
        </p:txBody>
      </p:sp>
      <p:sp>
        <p:nvSpPr>
          <p:cNvPr id="12" name="r12"/>
          <p:cNvSpPr/>
          <p:nvPr/>
        </p:nvSpPr>
        <p:spPr>
          <a:xfrm>
            <a:off x="3477158" y="2177500"/>
            <a:ext cx="6110630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3"/>
          <p:cNvSpPr/>
          <p:nvPr/>
        </p:nvSpPr>
        <p:spPr>
          <a:xfrm>
            <a:off x="3477158" y="2177500"/>
            <a:ext cx="4277441" cy="275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>
            <a:spLocks noGrp="1"/>
          </p:cNvSpPr>
          <p:nvPr/>
        </p:nvSpPr>
        <p:spPr>
          <a:xfrm>
            <a:off x="7790599" y="2040000"/>
            <a:ext cx="327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9E5B"/>
                </a:solidFill>
                <a:latin typeface="Calibri"/>
              </a:rPr>
              <a:t>0.98×</a:t>
            </a:r>
          </a:p>
        </p:txBody>
      </p:sp>
      <p:sp>
        <p:nvSpPr>
          <p:cNvPr id="15" name="t15"/>
          <p:cNvSpPr>
            <a:spLocks noGrp="1"/>
          </p:cNvSpPr>
          <p:nvPr/>
        </p:nvSpPr>
        <p:spPr>
          <a:xfrm>
            <a:off x="640080" y="2590000"/>
            <a:ext cx="2807078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Inaccurate</a:t>
            </a:r>
          </a:p>
        </p:txBody>
      </p:sp>
      <p:sp>
        <p:nvSpPr>
          <p:cNvPr id="16" name="r16"/>
          <p:cNvSpPr/>
          <p:nvPr/>
        </p:nvSpPr>
        <p:spPr>
          <a:xfrm>
            <a:off x="3477158" y="2727500"/>
            <a:ext cx="6110630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17"/>
          <p:cNvSpPr/>
          <p:nvPr/>
        </p:nvSpPr>
        <p:spPr>
          <a:xfrm>
            <a:off x="3477158" y="2727500"/>
            <a:ext cx="4364735" cy="275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>
            <a:spLocks noGrp="1"/>
          </p:cNvSpPr>
          <p:nvPr/>
        </p:nvSpPr>
        <p:spPr>
          <a:xfrm>
            <a:off x="7877893" y="2590000"/>
            <a:ext cx="327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9E5B"/>
                </a:solidFill>
                <a:latin typeface="Calibri"/>
              </a:rPr>
              <a:t>1.00×</a:t>
            </a:r>
          </a:p>
        </p:txBody>
      </p:sp>
      <p:sp>
        <p:nvSpPr>
          <p:cNvPr id="19" name="t19"/>
          <p:cNvSpPr>
            <a:spLocks noGrp="1"/>
          </p:cNvSpPr>
          <p:nvPr/>
        </p:nvSpPr>
        <p:spPr>
          <a:xfrm>
            <a:off x="640080" y="3140000"/>
            <a:ext cx="2807078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Redeem (fixed)</a:t>
            </a:r>
          </a:p>
        </p:txBody>
      </p:sp>
      <p:sp>
        <p:nvSpPr>
          <p:cNvPr id="20" name="r20"/>
          <p:cNvSpPr/>
          <p:nvPr/>
        </p:nvSpPr>
        <p:spPr>
          <a:xfrm>
            <a:off x="3477158" y="3277500"/>
            <a:ext cx="6110630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21"/>
          <p:cNvSpPr/>
          <p:nvPr/>
        </p:nvSpPr>
        <p:spPr>
          <a:xfrm>
            <a:off x="3477158" y="3277500"/>
            <a:ext cx="4844856" cy="275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>
            <a:spLocks noGrp="1"/>
          </p:cNvSpPr>
          <p:nvPr/>
        </p:nvSpPr>
        <p:spPr>
          <a:xfrm>
            <a:off x="8358014" y="3140000"/>
            <a:ext cx="327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9E5B"/>
                </a:solidFill>
                <a:latin typeface="Calibri"/>
              </a:rPr>
              <a:t>1.11×</a:t>
            </a:r>
          </a:p>
        </p:txBody>
      </p:sp>
      <p:graphicFrame>
        <p:nvGraphicFramePr>
          <p:cNvPr id="23" name="tbl23"/>
          <p:cNvGraphicFramePr>
            <a:graphicFrameLocks noGrp="1"/>
          </p:cNvGraphicFramePr>
          <p:nvPr/>
        </p:nvGraphicFramePr>
        <p:xfrm>
          <a:off x="640080" y="3980000"/>
          <a:ext cx="10911840" cy="1320000"/>
        </p:xfrm>
        <a:graphic>
          <a:graphicData uri="http://schemas.openxmlformats.org/drawingml/2006/table">
            <a:tbl>
              <a:tblPr firstRow="1" bandRow="1"/>
              <a:tblGrid>
                <a:gridCol w="4364736"/>
                <a:gridCol w="2182368"/>
                <a:gridCol w="2182368"/>
                <a:gridCol w="2182368"/>
              </a:tblGrid>
              <a:tr h="363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Category (calls)</a:t>
                      </a:r>
                    </a:p>
                  </a:txBody>
                  <a:tcPr marL="73152" marR="73152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Qualtrics</a:t>
                      </a:r>
                    </a:p>
                  </a:txBody>
                  <a:tcPr marL="73152" marR="73152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73152" marR="73152" marT="18000" marB="18000" anchor="ctr">
                    <a:solidFill>
                      <a:srgbClr val="1B2A4A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23047"/>
                          </a:solidFill>
                          <a:latin typeface="Calibri"/>
                        </a:rPr>
                        <a:t>CC Advisor – Confusing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45,014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45,789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  <a:latin typeface="Calibri"/>
                        </a:rPr>
                        <a:t>0.98×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23047"/>
                          </a:solidFill>
                          <a:latin typeface="Calibri"/>
                        </a:rPr>
                        <a:t>CC Advisor – Inaccurate</a:t>
                      </a:r>
                    </a:p>
                  </a:txBody>
                  <a:tcPr marL="73152" marR="73152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4,620</a:t>
                      </a:r>
                    </a:p>
                  </a:txBody>
                  <a:tcPr marL="73152" marR="73152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4,623</a:t>
                      </a:r>
                    </a:p>
                  </a:txBody>
                  <a:tcPr marL="73152" marR="73152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  <a:latin typeface="Calibri"/>
                        </a:rPr>
                        <a:t>1.00×</a:t>
                      </a:r>
                    </a:p>
                  </a:txBody>
                  <a:tcPr marL="73152" marR="73152" marT="18000" marB="1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23047"/>
                          </a:solidFill>
                          <a:latin typeface="Calibri"/>
                        </a:rPr>
                        <a:t>Points – Redeem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7,063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23047"/>
                          </a:solidFill>
                          <a:latin typeface="Calibri"/>
                        </a:rPr>
                        <a:t>6,358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2E9E5B"/>
                          </a:solidFill>
                          <a:latin typeface="Calibri"/>
                        </a:rPr>
                        <a:t>1.11×</a:t>
                      </a:r>
                    </a:p>
                  </a:txBody>
                  <a:tcPr marL="73152" marR="73152" marT="18000" marB="18000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RESULT 2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We found and fixed the Redeem over-count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4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60000"/>
            <a:ext cx="10911840" cy="3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3"/>
                </a:solidFill>
                <a:latin typeface="Calibri"/>
              </a:rPr>
              <a:t>Redeem calls tagged, July 2025 — before vs. after the keyword fix.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640080" y="194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Before fix</a:t>
            </a:r>
          </a:p>
        </p:txBody>
      </p:sp>
      <p:sp>
        <p:nvSpPr>
          <p:cNvPr id="10" name="r10"/>
          <p:cNvSpPr/>
          <p:nvPr/>
        </p:nvSpPr>
        <p:spPr>
          <a:xfrm>
            <a:off x="3913632" y="207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3913632" y="2077500"/>
            <a:ext cx="5509107" cy="275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9458739" y="194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/>
              </a:rPr>
              <a:t>19,634</a:t>
            </a:r>
          </a:p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640080" y="249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After fix</a:t>
            </a:r>
          </a:p>
        </p:txBody>
      </p:sp>
      <p:sp>
        <p:nvSpPr>
          <p:cNvPr id="14" name="r14"/>
          <p:cNvSpPr/>
          <p:nvPr/>
        </p:nvSpPr>
        <p:spPr>
          <a:xfrm>
            <a:off x="3913632" y="262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3913632" y="2627500"/>
            <a:ext cx="1981808" cy="275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>
            <a:spLocks noGrp="1"/>
          </p:cNvSpPr>
          <p:nvPr/>
        </p:nvSpPr>
        <p:spPr>
          <a:xfrm>
            <a:off x="5931440" y="249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E9E5B"/>
                </a:solidFill>
                <a:latin typeface="Calibri"/>
              </a:rPr>
              <a:t>7,063</a:t>
            </a:r>
          </a:p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640080" y="304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Qualtrics</a:t>
            </a:r>
          </a:p>
        </p:txBody>
      </p:sp>
      <p:sp>
        <p:nvSpPr>
          <p:cNvPr id="18" name="r18"/>
          <p:cNvSpPr/>
          <p:nvPr/>
        </p:nvSpPr>
        <p:spPr>
          <a:xfrm>
            <a:off x="3913632" y="317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3913632" y="3177500"/>
            <a:ext cx="1783992" cy="27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>
            <a:spLocks noGrp="1"/>
          </p:cNvSpPr>
          <p:nvPr/>
        </p:nvSpPr>
        <p:spPr>
          <a:xfrm>
            <a:off x="5733624" y="304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Calibri"/>
              </a:rPr>
              <a:t>6,358</a:t>
            </a:r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640080" y="3800000"/>
            <a:ext cx="10911840" cy="255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Cause: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the rule matched generic words — “use / using / used” — so “use my card” counted as a redemption.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9E5B"/>
                </a:solidFill>
                <a:latin typeface="Calibri"/>
              </a:rPr>
              <a:t>Fix: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tighten the keyword to “redeem*”. Result: 3.1× over Qualtrics → 1.1×.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KEY INSIGHT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Count calls, not sentences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5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60000"/>
            <a:ext cx="10911840" cy="3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3"/>
                </a:solidFill>
                <a:latin typeface="Calibri"/>
              </a:rPr>
              <a:t>“Confusing”, July 2025 — same data, counted three ways.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640080" y="194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Dashboard (sentences)</a:t>
            </a:r>
          </a:p>
        </p:txBody>
      </p:sp>
      <p:sp>
        <p:nvSpPr>
          <p:cNvPr id="10" name="r10"/>
          <p:cNvSpPr/>
          <p:nvPr/>
        </p:nvSpPr>
        <p:spPr>
          <a:xfrm>
            <a:off x="3913632" y="207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3913632" y="2077500"/>
            <a:ext cx="5488857" cy="275000"/>
          </a:xfrm>
          <a:prstGeom prst="rect">
            <a:avLst/>
          </a:prstGeom>
          <a:solidFill>
            <a:srgbClr val="B9770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9438489" y="194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B9770E"/>
                </a:solidFill>
                <a:latin typeface="Calibri"/>
              </a:rPr>
              <a:t>59,617</a:t>
            </a:r>
          </a:p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640080" y="249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Per call (fixed count)</a:t>
            </a:r>
          </a:p>
        </p:txBody>
      </p:sp>
      <p:sp>
        <p:nvSpPr>
          <p:cNvPr id="14" name="r14"/>
          <p:cNvSpPr/>
          <p:nvPr/>
        </p:nvSpPr>
        <p:spPr>
          <a:xfrm>
            <a:off x="3913632" y="262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3913632" y="2627500"/>
            <a:ext cx="4144378" cy="275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>
            <a:spLocks noGrp="1"/>
          </p:cNvSpPr>
          <p:nvPr/>
        </p:nvSpPr>
        <p:spPr>
          <a:xfrm>
            <a:off x="8094010" y="249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E9E5B"/>
                </a:solidFill>
                <a:latin typeface="Calibri"/>
              </a:rPr>
              <a:t>45,014</a:t>
            </a:r>
          </a:p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640080" y="3040000"/>
            <a:ext cx="3233552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Qualtrics (calls)</a:t>
            </a:r>
          </a:p>
        </p:txBody>
      </p:sp>
      <p:sp>
        <p:nvSpPr>
          <p:cNvPr id="18" name="r18"/>
          <p:cNvSpPr/>
          <p:nvPr/>
        </p:nvSpPr>
        <p:spPr>
          <a:xfrm>
            <a:off x="3913632" y="3177500"/>
            <a:ext cx="5892394" cy="275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3913632" y="3177500"/>
            <a:ext cx="4215731" cy="27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>
            <a:spLocks noGrp="1"/>
          </p:cNvSpPr>
          <p:nvPr/>
        </p:nvSpPr>
        <p:spPr>
          <a:xfrm>
            <a:off x="8165363" y="3040000"/>
            <a:ext cx="1745894" cy="55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B2A4A"/>
                </a:solidFill>
                <a:latin typeface="Calibri"/>
              </a:rPr>
              <a:t>45,789</a:t>
            </a:r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640080" y="3800000"/>
            <a:ext cx="10911840" cy="255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Why our numbers looked ~30% high: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the dashboard counted sentences; Qualtrics counts calls. A call has several sentences.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9E5B"/>
                </a:solidFill>
                <a:latin typeface="Calibri"/>
              </a:rPr>
              <a:t>One-line fix: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count distinct calls (verbatims) → we match Qualtrics.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 TRACK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AI classification: quality hinges on the model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6</a:t>
            </a:r>
          </a:p>
        </p:txBody>
      </p:sp>
      <p:sp>
        <p:nvSpPr>
          <p:cNvPr id="8" name="r8"/>
          <p:cNvSpPr/>
          <p:nvPr/>
        </p:nvSpPr>
        <p:spPr>
          <a:xfrm>
            <a:off x="640080" y="1540000"/>
            <a:ext cx="3050000" cy="1650000"/>
          </a:xfrm>
          <a:prstGeom prst="rect">
            <a:avLst/>
          </a:prstGeom>
          <a:solidFill>
            <a:srgbClr val="F5F7FB"/>
          </a:solidFill>
          <a:ln w="9525">
            <a:solidFill>
              <a:srgbClr val="D5DEEA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640080" y="1540000"/>
            <a:ext cx="3050000" cy="8255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640080" y="1804000"/>
            <a:ext cx="3050000" cy="72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2E9E5B"/>
                </a:solidFill>
                <a:latin typeface="Calibri"/>
              </a:rPr>
              <a:t>14 / 5,000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730080" y="2530000"/>
            <a:ext cx="2870000" cy="59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223047"/>
                </a:solidFill>
                <a:latin typeface="Calibri"/>
              </a:rPr>
              <a:t>sentences tagged by Claude Sonnet 4.6 — all correct</a:t>
            </a:r>
          </a:p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3990080" y="1480000"/>
            <a:ext cx="7561840" cy="487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23047"/>
                </a:solidFill>
                <a:latin typeface="Calibri"/>
              </a:rPr>
              <a:t>Model is the biggest lever: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small/cheap models over-tagged everything (“OK.” → Points). Claude Sonnet 4.6 was precise.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Prompt tightening: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“most sentences match nothing” removed the remaining over-tagging.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1B2A4A"/>
                </a:solidFill>
                <a:latin typeface="Calibri"/>
              </a:rPr>
              <a:t>So AI is viable: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with the right model + prompt it produces trustworthy tags without hand-maintained keywords.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AI TRACK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The open question: scaling AI affordably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7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60000"/>
            <a:ext cx="10911840" cy="3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A6473"/>
                </a:solidFill>
                <a:latin typeface="Calibri"/>
              </a:rPr>
              <a:t>Runtime on the same ~500K-sentence slice.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640080" y="1880000"/>
            <a:ext cx="3233552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Built-in ai_classify</a:t>
            </a:r>
          </a:p>
        </p:txBody>
      </p:sp>
      <p:sp>
        <p:nvSpPr>
          <p:cNvPr id="10" name="r10"/>
          <p:cNvSpPr/>
          <p:nvPr/>
        </p:nvSpPr>
        <p:spPr>
          <a:xfrm>
            <a:off x="3913632" y="2020000"/>
            <a:ext cx="5892394" cy="280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3913632" y="2020000"/>
            <a:ext cx="937426" cy="280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>
            <a:spLocks noGrp="1"/>
          </p:cNvSpPr>
          <p:nvPr/>
        </p:nvSpPr>
        <p:spPr>
          <a:xfrm>
            <a:off x="4887058" y="1880000"/>
            <a:ext cx="1745894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0E7C7B"/>
                </a:solidFill>
                <a:latin typeface="Calibri"/>
              </a:rPr>
              <a:t>21 min</a:t>
            </a:r>
          </a:p>
        </p:txBody>
      </p:sp>
      <p:sp>
        <p:nvSpPr>
          <p:cNvPr id="13" name="t13"/>
          <p:cNvSpPr>
            <a:spLocks noGrp="1"/>
          </p:cNvSpPr>
          <p:nvPr/>
        </p:nvSpPr>
        <p:spPr>
          <a:xfrm>
            <a:off x="640080" y="2440000"/>
            <a:ext cx="3233552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23047"/>
                </a:solidFill>
                <a:latin typeface="Calibri"/>
              </a:rPr>
              <a:t>ai_query (Sonnet 4.6)</a:t>
            </a:r>
          </a:p>
        </p:txBody>
      </p:sp>
      <p:sp>
        <p:nvSpPr>
          <p:cNvPr id="14" name="r14"/>
          <p:cNvSpPr/>
          <p:nvPr/>
        </p:nvSpPr>
        <p:spPr>
          <a:xfrm>
            <a:off x="3913632" y="2580000"/>
            <a:ext cx="5892394" cy="280000"/>
          </a:xfrm>
          <a:prstGeom prst="rect">
            <a:avLst/>
          </a:prstGeom>
          <a:solidFill>
            <a:srgbClr val="E7ED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3913632" y="2580000"/>
            <a:ext cx="5222803" cy="2800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>
            <a:spLocks noGrp="1"/>
          </p:cNvSpPr>
          <p:nvPr/>
        </p:nvSpPr>
        <p:spPr>
          <a:xfrm>
            <a:off x="9172435" y="2440000"/>
            <a:ext cx="1745894" cy="5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2E6FF2"/>
                </a:solidFill>
                <a:latin typeface="Calibri"/>
              </a:rPr>
              <a:t>1 h 57 min</a:t>
            </a:r>
          </a:p>
        </p:txBody>
      </p:sp>
      <p:sp>
        <p:nvSpPr>
          <p:cNvPr id="17" name="t17"/>
          <p:cNvSpPr>
            <a:spLocks noGrp="1"/>
          </p:cNvSpPr>
          <p:nvPr/>
        </p:nvSpPr>
        <p:spPr>
          <a:xfrm>
            <a:off x="640080" y="3200000"/>
            <a:ext cx="10911840" cy="315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The trade-off: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the fast path (ai_classify) uses a weaker fixed model; the accurate path (Sonnet) is rate-limited → ~7 h for a full day, and the full dataset is far larger.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1B2A4A"/>
                </a:solidFill>
                <a:latin typeface="Calibri"/>
              </a:rPr>
              <a:t>The options: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provisioned throughput (self-serve, open-weight models) or committed Sonnet throughput (via Databricks) — the question we're posing to Databricks.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SUMMARY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What worked, what didn't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8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380000"/>
            <a:ext cx="537592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E9E5B"/>
                </a:solidFill>
                <a:latin typeface="Calibri"/>
              </a:rPr>
              <a:t>WORKED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640080" y="1720000"/>
            <a:ext cx="5375920" cy="46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Rule engine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matches Qualtrics (Confusing, Inaccurate, Redeem).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Redeem + grain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root causes found and fixed.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AI with Sonnet 4.6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precise, no keyword upkeep.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Batch SQL inference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the fast way to run AI at scale.</a:t>
            </a:r>
          </a:p>
        </p:txBody>
      </p:sp>
      <p:sp>
        <p:nvSpPr>
          <p:cNvPr id="10" name="t10"/>
          <p:cNvSpPr>
            <a:spLocks noGrp="1"/>
          </p:cNvSpPr>
          <p:nvPr/>
        </p:nvSpPr>
        <p:spPr>
          <a:xfrm>
            <a:off x="6176000" y="1380000"/>
            <a:ext cx="537592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Calibri"/>
              </a:rPr>
              <a:t>STILL OPEN / LIMITED</a:t>
            </a:r>
          </a:p>
        </p:txBody>
      </p:sp>
      <p:sp>
        <p:nvSpPr>
          <p:cNvPr id="11" name="t11"/>
          <p:cNvSpPr>
            <a:spLocks noGrp="1"/>
          </p:cNvSpPr>
          <p:nvPr/>
        </p:nvSpPr>
        <p:spPr>
          <a:xfrm>
            <a:off x="6176000" y="1720000"/>
            <a:ext cx="5375920" cy="46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Built-in ai_classify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fast but too weak &amp; single-label.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Small models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over-tag everything.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Pay-per-token limits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make full-scale AI slow/costly.</a:t>
            </a:r>
          </a:p>
          <a:p>
            <a:pPr marL="274320" indent="-274320" algn="l">
              <a:lnSpc>
                <a:spcPct val="104000"/>
              </a:lnSpc>
              <a:spcBef>
                <a:spcPts val="11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Scaling AI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needs provisioned/committed throughput.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150000"/>
            <a:ext cx="12192000" cy="38100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640080" y="165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9DB4E0"/>
                </a:solidFill>
                <a:latin typeface="Calibri"/>
              </a:rPr>
              <a:t>WHERE WE LAND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640080" y="430000"/>
            <a:ext cx="10911840" cy="6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640080" y="6498000"/>
            <a:ext cx="104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6473"/>
                </a:solidFill>
                <a:latin typeface="Calibri"/>
              </a:rPr>
              <a:t>GM Voice-of-Customer Classification POC  ·  Databricks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11051920" y="6498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5A6473"/>
                </a:solidFill>
                <a:latin typeface="Calibri"/>
              </a:rPr>
              <a:t>9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640080" y="1420000"/>
            <a:ext cx="10911840" cy="493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rmAutofit/>
          </a:bodyPr>
          <a:lstStyle/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9E5B"/>
                </a:solidFill>
                <a:latin typeface="Calibri"/>
              </a:rPr>
              <a:t>Ship the rule engine: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a production-ready, faithful, explainable replica. Count distinct calls on the dashboard; deploy the Redeem fix (now in the v2 table).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Scale AI with better throughput: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provisioned or committed throughput to keep Sonnet-level quality without the runtime wall.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2E6FF2"/>
                </a:solidFill>
                <a:latin typeface="Calibri"/>
              </a:rPr>
              <a:t>Use AI as a complement: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great for novel phrasing and zero keyword upkeep — always validated against the rule engine.</a:t>
            </a:r>
          </a:p>
          <a:p>
            <a:pPr marL="274320" indent="-274320" algn="l">
              <a:lnSpc>
                <a:spcPct val="104000"/>
              </a:lnSpc>
              <a:spcBef>
                <a:spcPts val="460"/>
              </a:spcBef>
              <a:spcAft>
                <a:spcPts val="110"/>
              </a:spcAft>
              <a:buFont typeface="Arial"/>
              <a:buChar char="▪"/>
            </a:pPr>
            <a:r>
              <a:rPr lang="en-US" sz="1600" b="1" dirty="0">
                <a:solidFill>
                  <a:srgbClr val="1B2A4A"/>
                </a:solidFill>
                <a:latin typeface="Calibri"/>
              </a:rPr>
              <a:t>Next:</a:t>
            </a:r>
            <a:r>
              <a:rPr lang="en-US" sz="1600" dirty="0">
                <a:solidFill>
                  <a:srgbClr val="223047"/>
                </a:solidFill>
                <a:latin typeface="Calibri"/>
              </a:rPr>
              <a:t> run both classifiers on a shared sample and produce a per-category precision/recall comparison vs. Qualtrics.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C">
  <a:themeElements>
    <a:clrScheme name="VOC">
      <a:dk1>
        <a:srgbClr val="1B2A4A"/>
      </a:dk1>
      <a:lt1>
        <a:srgbClr val="FFFFFF"/>
      </a:lt1>
      <a:dk2>
        <a:srgbClr val="223047"/>
      </a:dk2>
      <a:lt2>
        <a:srgbClr val="E7EDF6"/>
      </a:lt2>
      <a:accent1>
        <a:srgbClr val="2E6FF2"/>
      </a:accent1>
      <a:accent2>
        <a:srgbClr val="0E7C7B"/>
      </a:accent2>
      <a:accent3>
        <a:srgbClr val="2E9E5B"/>
      </a:accent3>
      <a:accent4>
        <a:srgbClr val="B9770E"/>
      </a:accent4>
      <a:accent5>
        <a:srgbClr val="C0392B"/>
      </a:accent5>
      <a:accent6>
        <a:srgbClr val="5A6473"/>
      </a:accent6>
      <a:hlink>
        <a:srgbClr val="2E6FF2"/>
      </a:hlink>
      <a:folHlink>
        <a:srgbClr val="0E7C7B"/>
      </a:folHlink>
    </a:clrScheme>
    <a:fontScheme name="VO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VO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